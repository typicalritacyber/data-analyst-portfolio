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9" r:id="rId14"/>
    <p:sldId id="270" r:id="rId15"/>
    <p:sldId id="271" r:id="rId16"/>
    <p:sldId id="273" r:id="rId17"/>
    <p:sldId id="274"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9414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Four years of GIRA station data, 2020 to 2023 Q1, analysed for EMEL's operations team. State the through-line up front: the network does not fail on average, it fails at specific stations at specific hours, and geography explains most of it. Then walk the three sub-questions - WHEN, WHERE, WHAT to do.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GIRA started in June 2017 as a pilot in Parque das Nacoes: 100 bikes, 10 stations, 1,600 volunteer beta testers, run by EMEL, the municipal mobility company. Two points to land: electric-assist was designed in from the start because of the hills - that foreshadows our SQ2 finding; and by 2023 GIRA had passed 10 million trips, so this is a real habit, not a novelty.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client framing. The stakeholder for this project is EMEL's Operations / Rebalancing team - a role we are writing for, not a person we interviewed, so the line on screen is our own statement of the problem rather than a quotation. Their pain is not 'we lack bikes' - it is 'we don't know WHICH station, at WHICH hour, to send the van to first.' That is why the deliverable is a ranked station-by-hour list, not a citywide average.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methodological point: each row is a SNAPSHOT of one station at one moment - bikes available and free docks. It is NOT trip data. So every question we can legitimately ask is about availability and occupancy, never about journeys or routes. Flag the schema split now, because it drives the whole cleaning story.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 the obvious question: 'you deleted 45% of the data?' These were fully identical duplicate rows. The source system logs at fixed intervals, so if a station's state doesn't change, the identical row is written again. Removing them is structural deduplication - no information is lost. Pass 2 then removes 1,801 rows sharing a station and timestamp, keeping the first.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cleaning. We could not just concatenate - the columns mean different things per year. The 2021 file has BOTH dock columns, so we tested the identity directly and it held on 100% of rows. Also note numdocas means WORKING docks in 2020 but TOTAL PHYSICAL docks from 2021 - worth caveating in any capacity comparison. The ~146 NaT rows are the DST gap, which is correct behaviour.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Course rule we followed throughout: never overwrite an original value. Every correction goes into a new column or boolean flag. The subtle trap: occupancy_rate must be computed AFTER flagging impossible rows. Compute it first and zero-capacity stations divide by zero, produce inf, and those inf values silently poison every downstream mean.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 roughly doubled: 85 to 147 stations. The more interesting detail is 2021 to 2022 - capacity grew FASTER than station count, meaning newer stations were built bigger. Caveat to state out loud: 2023 is Q1 only, so we always compare like-for-like quarters.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shape, not the individual numbers. Empty rate is low overnight, climbs sharply from 07:00, holds a plateau around 6.8% through midday. Full rate does the exact opposite. They are mirror images. Interpretation: bikes drain out of some stations during the day and pile back up overnight. That is a distribution problem, not a fleet-size problem.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proves the mechanism. If failures were random, weekday and weekend would look the same. They don't. Weekday empty peaks at 10:00; weekend peaks at 16:00 - six hours later. Weekdays also swing harder. The later flatter weekend curve is leisure; the sharp weekday spike is commuting. The network fails in a predictable, schedulable way - which is what makes it fixable.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Guided exercise question 15. The lockdown window is the real Portuguese state of emergency, 18 March to 3 May 2020, which is why the band does not align neatly with calendar months. Read the shape: January and February 2020 sit at 3.8 and 4.5 per cent, March spikes to 7.7, then April collapses to 1.3 per cent, the lowest month in the entire four years. The interpretation matters more than the number. Availability was not good during lockdown because the system was working well; it was good because almost nobody was riding, so every bike stayed docked. Be ready for the March question: March 2020 looks high because lockdown was declared on the 18th, so the month mixes two very different halves. On duration: recovery took roughly four months, and by September 2020 the failure rate was 8.4 per cent, comfortably above pre-lockdown. The wider lesson, and the strongest thing to say here, is that failure rate is a demand signal as much as a service signal, so the upward drift through 2021 and 2022 partly reflects a busier, better-used network rather than a degrading one. One caveat to have ready if challenged on the trend: 2020 has no estado column, so no 2020 row can be flagged as under repair. Maintenance snapshots stay in the 2020 denominator and are removed from 2022 and 2023, which makes 2020 look marginally better than the years it is compared against. The notebook measures this - at most 0.37 percentage points - so the slope is very slightly overstated, but nowhere near enough to change the reading.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finding. First we tested the hills hypothesis using latitude as a rough proxy and got almost nothing - 0.06. Then we joined real elevation per station from the Open-Meteo API and the correlation jumped to 0.39. Median elevation of empty-prone stations is 81m versus 30m for full-prone. People ride downhill to the river and don't ride back up. If asked why it isn't higher: elevation is one driver among several - transit hubs and land use matter too.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HTML map in a browser here. It is a Folium / Leaflet map, standalone, so it needs no server. Point out that it is the interactive twin of the scatter on the previous slide: same tilt colour scale from -15 to +15, red for empty-prone and blue for full-prone, with circle size showing severity, the combined empty and full rate. The advantage over the static chart is that the audience can see the real street map underneath, so the hills and the riverside are recognisable as actual Lisbon rather than as dots on axes. Good live move: zoom to the riverside and show the blue cluster, then pan uphill to the red ones. Note the map plots the 141 stations with enough snapshots to be reliable; six thin ones are excluded. Click station 479 to show the worst empty station and its elevation in the popup.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client deliverable - it answers 'where do I send the van first?' Explain the priority score: failure rate alone is misleading, because a station empty at 04:00 harms almost nobody. So we weight severity by rider demand at that hour. Important: we used a FIXED commute-shaped demand curve rather than deriving demand from the data, because deriving it from the same dataset would be circular. Top of the list: station 519 at 09:00, empty 33.3% of the time.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mirror image - stations that fill up and need bikes REMOVED. Then the operationally useful part: pair them. Note carefully that '+48 m' is ELEVATION GAIN, not drive time. Station 309 sits at 31m and overflows; station 407 sits at 79m and runs dry. One van run empties the low station and refills the high one. The 552 to 519 pair is the shortest hop in the list: 1.07 km and 27m of climb. The takeaway: the van makes the climb riders won't. That reframes this as rebalancing, not a reason to buy more bikes. If pushed further, the honest limit of the argument is supply: only 13 stations classify as full-risk against 91 empty-risk, and in the neighbour analysis one station, 316, is the nearest full-risk partner for a third of the worst empty stations. The hops are short, so geography is not the obstacle, but there are not enough naturally-filling stations to draw from. That is the point where rebalancing stops being sufficient and dock sizing starts to matter.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conclusions, and the through-line is that the network does NOT fail uniformly. It fails at identifiable stations, at predictable hours, in a direction explained by gravity. Point 5 is the mild criticism of EMEL: capacity grew substantially, yet the same stations remain problem stations - expansion alone did not solve it. Point 6 is the constructive close. If asked for further work: trip-level data, weather, and a proper drive-time matrix would all sharpen the routing.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 deliver it slowly, it is the memorable takeaway. Then take questions. If the dashboard demo has not happened yet, this is the natural moment to switch to Power BI and click through the three pages.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hyperlink" Target="https://steady-basbousa-598295.netlify.app/"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4.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bg_hero.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01</a:t>
            </a:r>
            <a:endParaRPr lang="en-US" sz="1200" dirty="0"/>
          </a:p>
        </p:txBody>
      </p:sp>
      <p:pic>
        <p:nvPicPr>
          <p:cNvPr id="11" name="Image 1" descr="assets/icon_bike_2A3560.png"/>
          <p:cNvPicPr>
            <a:picLocks noChangeAspect="1"/>
          </p:cNvPicPr>
          <p:nvPr/>
        </p:nvPicPr>
        <p:blipFill>
          <a:blip r:embed="rId4"/>
          <a:stretch>
            <a:fillRect/>
          </a:stretch>
        </p:blipFill>
        <p:spPr>
          <a:xfrm>
            <a:off x="7176746" y="2024102"/>
            <a:ext cx="3797348" cy="3797348"/>
          </a:xfrm>
          <a:prstGeom prst="rect">
            <a:avLst/>
          </a:prstGeom>
        </p:spPr>
      </p:pic>
      <p:sp>
        <p:nvSpPr>
          <p:cNvPr id="12" name="Text 8"/>
          <p:cNvSpPr/>
          <p:nvPr/>
        </p:nvSpPr>
        <p:spPr>
          <a:xfrm>
            <a:off x="566928" y="2084832"/>
            <a:ext cx="10058400" cy="457200"/>
          </a:xfrm>
          <a:prstGeom prst="rect">
            <a:avLst/>
          </a:prstGeom>
          <a:noFill/>
          <a:ln/>
        </p:spPr>
        <p:txBody>
          <a:bodyPr wrap="square" rtlCol="0" anchor="ctr"/>
          <a:lstStyle/>
          <a:p>
            <a:pPr marL="0" indent="0">
              <a:buNone/>
            </a:pPr>
            <a:r>
              <a:rPr lang="en-US" sz="2100" dirty="0">
                <a:solidFill>
                  <a:srgbClr val="DCE6FF"/>
                </a:solidFill>
                <a:latin typeface="Calibri" pitchFamily="34" charset="0"/>
                <a:ea typeface="Calibri" pitchFamily="34" charset="-122"/>
                <a:cs typeface="Calibri" pitchFamily="34" charset="-120"/>
              </a:rPr>
              <a:t>Station availability, 2020–2023</a:t>
            </a:r>
            <a:endParaRPr lang="en-US" sz="2100" dirty="0"/>
          </a:p>
        </p:txBody>
      </p:sp>
      <p:sp>
        <p:nvSpPr>
          <p:cNvPr id="13" name="Text 9"/>
          <p:cNvSpPr/>
          <p:nvPr/>
        </p:nvSpPr>
        <p:spPr>
          <a:xfrm>
            <a:off x="548640" y="2450592"/>
            <a:ext cx="11155680" cy="1207008"/>
          </a:xfrm>
          <a:prstGeom prst="rect">
            <a:avLst/>
          </a:prstGeom>
          <a:noFill/>
          <a:ln/>
        </p:spPr>
        <p:txBody>
          <a:bodyPr wrap="square" rtlCol="0" anchor="ctr"/>
          <a:lstStyle/>
          <a:p>
            <a:pPr marL="0" indent="0">
              <a:buNone/>
            </a:pPr>
            <a:r>
              <a:rPr lang="en-US" sz="6200" b="1" dirty="0">
                <a:solidFill>
                  <a:srgbClr val="FFFFFF"/>
                </a:solidFill>
                <a:latin typeface="Trebuchet MS" pitchFamily="34" charset="0"/>
                <a:ea typeface="Trebuchet MS" pitchFamily="34" charset="-122"/>
                <a:cs typeface="Trebuchet MS" pitchFamily="34" charset="-120"/>
              </a:rPr>
              <a:t>GIRA Network</a:t>
            </a:r>
            <a:endParaRPr lang="en-US" sz="6200" dirty="0"/>
          </a:p>
        </p:txBody>
      </p:sp>
      <p:sp>
        <p:nvSpPr>
          <p:cNvPr id="14" name="Text 10"/>
          <p:cNvSpPr/>
          <p:nvPr/>
        </p:nvSpPr>
        <p:spPr>
          <a:xfrm>
            <a:off x="566928" y="3694176"/>
            <a:ext cx="10058400" cy="457200"/>
          </a:xfrm>
          <a:prstGeom prst="rect">
            <a:avLst/>
          </a:prstGeom>
          <a:noFill/>
          <a:ln/>
        </p:spPr>
        <p:txBody>
          <a:bodyPr wrap="square" rtlCol="0" anchor="ctr"/>
          <a:lstStyle/>
          <a:p>
            <a:pPr marL="0" indent="0">
              <a:buNone/>
            </a:pPr>
            <a:r>
              <a:rPr lang="en-US" sz="1700" dirty="0">
                <a:solidFill>
                  <a:srgbClr val="BFD0F5"/>
                </a:solidFill>
                <a:latin typeface="Calibri" pitchFamily="34" charset="0"/>
                <a:ea typeface="Calibri" pitchFamily="34" charset="-122"/>
                <a:cs typeface="Calibri" pitchFamily="34" charset="-120"/>
              </a:rPr>
              <a:t>Where the bike-share fails, and what EMEL should fix first</a:t>
            </a:r>
            <a:endParaRPr lang="en-US" sz="1700" dirty="0"/>
          </a:p>
        </p:txBody>
      </p:sp>
      <p:sp>
        <p:nvSpPr>
          <p:cNvPr id="15" name="Shape 11"/>
          <p:cNvSpPr/>
          <p:nvPr/>
        </p:nvSpPr>
        <p:spPr>
          <a:xfrm>
            <a:off x="566928" y="4315968"/>
            <a:ext cx="2286000" cy="566928"/>
          </a:xfrm>
          <a:prstGeom prst="roundRect">
            <a:avLst>
              <a:gd name="adj" fmla="val 17742"/>
            </a:avLst>
          </a:prstGeom>
          <a:solidFill>
            <a:srgbClr val="7B2FF7"/>
          </a:solidFill>
          <a:ln/>
        </p:spPr>
        <p:txBody>
          <a:bodyPr/>
          <a:lstStyle/>
          <a:p>
            <a:endParaRPr lang="en-GB"/>
          </a:p>
        </p:txBody>
      </p:sp>
      <p:sp>
        <p:nvSpPr>
          <p:cNvPr id="16" name="Text 12"/>
          <p:cNvSpPr/>
          <p:nvPr/>
        </p:nvSpPr>
        <p:spPr>
          <a:xfrm>
            <a:off x="566928" y="4315968"/>
            <a:ext cx="2286000" cy="566928"/>
          </a:xfrm>
          <a:prstGeom prst="rect">
            <a:avLst/>
          </a:prstGeom>
          <a:noFill/>
          <a:ln/>
        </p:spPr>
        <p:txBody>
          <a:bodyPr wrap="square"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Data Analyst Project</a:t>
            </a:r>
            <a:endParaRPr lang="en-US" sz="1250" dirty="0"/>
          </a:p>
        </p:txBody>
      </p:sp>
      <p:sp>
        <p:nvSpPr>
          <p:cNvPr id="17" name="Text 13"/>
          <p:cNvSpPr/>
          <p:nvPr/>
        </p:nvSpPr>
        <p:spPr>
          <a:xfrm>
            <a:off x="566928" y="5138928"/>
            <a:ext cx="3657600" cy="256032"/>
          </a:xfrm>
          <a:prstGeom prst="rect">
            <a:avLst/>
          </a:prstGeom>
          <a:noFill/>
          <a:ln/>
        </p:spPr>
        <p:txBody>
          <a:bodyPr wrap="square" rtlCol="0" anchor="ctr"/>
          <a:lstStyle/>
          <a:p>
            <a:pPr marL="0" indent="0">
              <a:buNone/>
            </a:pPr>
            <a:r>
              <a:rPr lang="en-US" sz="1050" b="1" kern="0" spc="220" dirty="0">
                <a:solidFill>
                  <a:srgbClr val="22D3EE"/>
                </a:solidFill>
                <a:latin typeface="Calibri" pitchFamily="34" charset="0"/>
                <a:ea typeface="Calibri" pitchFamily="34" charset="-122"/>
                <a:cs typeface="Calibri" pitchFamily="34" charset="-120"/>
              </a:rPr>
              <a:t>TEAM</a:t>
            </a:r>
            <a:endParaRPr lang="en-US" sz="1050" dirty="0"/>
          </a:p>
        </p:txBody>
      </p:sp>
      <p:sp>
        <p:nvSpPr>
          <p:cNvPr id="18" name="Text 14"/>
          <p:cNvSpPr/>
          <p:nvPr/>
        </p:nvSpPr>
        <p:spPr>
          <a:xfrm>
            <a:off x="566928" y="5394960"/>
            <a:ext cx="8412480" cy="384048"/>
          </a:xfrm>
          <a:prstGeom prst="rect">
            <a:avLst/>
          </a:prstGeom>
          <a:noFill/>
          <a:ln/>
        </p:spPr>
        <p:txBody>
          <a:bodyPr wrap="square" rtlCol="0" anchor="ctr"/>
          <a:lstStyle/>
          <a:p>
            <a:pPr marL="0" indent="0">
              <a:buNone/>
            </a:pPr>
            <a:r>
              <a:rPr lang="en-US" sz="1500" dirty="0">
                <a:solidFill>
                  <a:srgbClr val="FFFFFF"/>
                </a:solidFill>
                <a:latin typeface="Calibri" pitchFamily="34" charset="0"/>
                <a:ea typeface="Calibri" pitchFamily="34" charset="-122"/>
                <a:cs typeface="Calibri" pitchFamily="34" charset="-120"/>
              </a:rPr>
              <a:t>Rita Lima  ·  Bruno Conceição  ·  Cláudio Pitra  ·  Erick Dos Santos</a:t>
            </a:r>
            <a:endParaRPr lang="en-US" sz="1500" dirty="0"/>
          </a:p>
        </p:txBody>
      </p:sp>
      <p:sp>
        <p:nvSpPr>
          <p:cNvPr id="19" name="Text 15"/>
          <p:cNvSpPr/>
          <p:nvPr/>
        </p:nvSpPr>
        <p:spPr>
          <a:xfrm>
            <a:off x="566928" y="6053328"/>
            <a:ext cx="7315200" cy="320040"/>
          </a:xfrm>
          <a:prstGeom prst="rect">
            <a:avLst/>
          </a:prstGeom>
          <a:noFill/>
          <a:ln/>
        </p:spPr>
        <p:txBody>
          <a:bodyPr wrap="square" rtlCol="0" anchor="ctr"/>
          <a:lstStyle/>
          <a:p>
            <a:pPr marL="0" indent="0">
              <a:buNone/>
            </a:pPr>
            <a:r>
              <a:rPr lang="en-US" sz="1150" dirty="0">
                <a:solidFill>
                  <a:srgbClr val="9FB0DC"/>
                </a:solidFill>
                <a:latin typeface="Calibri" pitchFamily="34" charset="0"/>
                <a:ea typeface="Calibri" pitchFamily="34" charset="-122"/>
                <a:cs typeface="Calibri" pitchFamily="34" charset="-120"/>
              </a:rPr>
              <a:t>Prepared for EMEL · Operations &amp; Rebalancing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02</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E930D8"/>
                </a:solidFill>
                <a:latin typeface="Calibri" pitchFamily="34" charset="0"/>
                <a:ea typeface="Calibri" pitchFamily="34" charset="-122"/>
                <a:cs typeface="Calibri" pitchFamily="34" charset="-120"/>
              </a:rPr>
              <a:t>BACKGROUND</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From a 100-bike pilot to a city-wide network</a:t>
            </a:r>
            <a:endParaRPr lang="en-US" sz="3400" dirty="0"/>
          </a:p>
        </p:txBody>
      </p:sp>
      <p:sp>
        <p:nvSpPr>
          <p:cNvPr id="13" name="Shape 10"/>
          <p:cNvSpPr/>
          <p:nvPr/>
        </p:nvSpPr>
        <p:spPr>
          <a:xfrm>
            <a:off x="566928" y="2395728"/>
            <a:ext cx="457200" cy="457200"/>
          </a:xfrm>
          <a:prstGeom prst="ellipse">
            <a:avLst/>
          </a:prstGeom>
          <a:solidFill>
            <a:srgbClr val="0A0A18"/>
          </a:solidFill>
          <a:ln/>
        </p:spPr>
        <p:txBody>
          <a:bodyPr/>
          <a:lstStyle/>
          <a:p>
            <a:endParaRPr lang="en-GB"/>
          </a:p>
        </p:txBody>
      </p:sp>
      <p:pic>
        <p:nvPicPr>
          <p:cNvPr id="14" name="Image 1" descr="assets/icon_clock_22D3EE.png"/>
          <p:cNvPicPr>
            <a:picLocks noChangeAspect="1"/>
          </p:cNvPicPr>
          <p:nvPr/>
        </p:nvPicPr>
        <p:blipFill>
          <a:blip r:embed="rId4"/>
          <a:stretch>
            <a:fillRect/>
          </a:stretch>
        </p:blipFill>
        <p:spPr>
          <a:xfrm>
            <a:off x="690372" y="2519172"/>
            <a:ext cx="210312" cy="210312"/>
          </a:xfrm>
          <a:prstGeom prst="rect">
            <a:avLst/>
          </a:prstGeom>
        </p:spPr>
      </p:pic>
      <p:sp>
        <p:nvSpPr>
          <p:cNvPr id="15" name="Shape 11"/>
          <p:cNvSpPr/>
          <p:nvPr/>
        </p:nvSpPr>
        <p:spPr>
          <a:xfrm>
            <a:off x="566928" y="2395728"/>
            <a:ext cx="457200" cy="457200"/>
          </a:xfrm>
          <a:prstGeom prst="ellipse">
            <a:avLst/>
          </a:prstGeom>
          <a:solidFill>
            <a:srgbClr val="0A0A18">
              <a:alpha val="0"/>
            </a:srgbClr>
          </a:solidFill>
          <a:ln w="19050">
            <a:solidFill>
              <a:srgbClr val="22D3EE"/>
            </a:solidFill>
            <a:prstDash val="solid"/>
          </a:ln>
        </p:spPr>
        <p:txBody>
          <a:bodyPr/>
          <a:lstStyle/>
          <a:p>
            <a:endParaRPr lang="en-GB"/>
          </a:p>
        </p:txBody>
      </p:sp>
      <p:sp>
        <p:nvSpPr>
          <p:cNvPr id="16" name="Text 12"/>
          <p:cNvSpPr/>
          <p:nvPr/>
        </p:nvSpPr>
        <p:spPr>
          <a:xfrm>
            <a:off x="1234440" y="2359152"/>
            <a:ext cx="57607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2017: the pilot</a:t>
            </a:r>
            <a:endParaRPr lang="en-US" sz="1400" dirty="0"/>
          </a:p>
        </p:txBody>
      </p:sp>
      <p:sp>
        <p:nvSpPr>
          <p:cNvPr id="17" name="Text 13"/>
          <p:cNvSpPr/>
          <p:nvPr/>
        </p:nvSpPr>
        <p:spPr>
          <a:xfrm>
            <a:off x="1234440" y="2633472"/>
            <a:ext cx="5897880" cy="658368"/>
          </a:xfrm>
          <a:prstGeom prst="rect">
            <a:avLst/>
          </a:prstGeom>
          <a:noFill/>
          <a:ln/>
        </p:spPr>
        <p:txBody>
          <a:bodyPr wrap="square" rtlCol="0" anchor="ctr"/>
          <a:lstStyle/>
          <a:p>
            <a:pPr marL="0" indent="0">
              <a:lnSpc>
                <a:spcPct val="114000"/>
              </a:lnSpc>
              <a:buNone/>
            </a:pPr>
            <a:r>
              <a:rPr lang="en-US" sz="1100" dirty="0">
                <a:solidFill>
                  <a:srgbClr val="A9B4D0"/>
                </a:solidFill>
                <a:latin typeface="Calibri" pitchFamily="34" charset="0"/>
                <a:ea typeface="Calibri" pitchFamily="34" charset="-122"/>
                <a:cs typeface="Calibri" pitchFamily="34" charset="-120"/>
              </a:rPr>
              <a:t>EMEL launched GIRA in Parque das Nações: 100 bikes, 10 stations, 1,600 volunteer testers before going public.</a:t>
            </a:r>
            <a:endParaRPr lang="en-US" sz="1100" dirty="0"/>
          </a:p>
        </p:txBody>
      </p:sp>
      <p:sp>
        <p:nvSpPr>
          <p:cNvPr id="18" name="Shape 14"/>
          <p:cNvSpPr/>
          <p:nvPr/>
        </p:nvSpPr>
        <p:spPr>
          <a:xfrm>
            <a:off x="566928" y="3364992"/>
            <a:ext cx="457200" cy="457200"/>
          </a:xfrm>
          <a:prstGeom prst="ellipse">
            <a:avLst/>
          </a:prstGeom>
          <a:solidFill>
            <a:srgbClr val="0A0A18"/>
          </a:solidFill>
          <a:ln/>
        </p:spPr>
        <p:txBody>
          <a:bodyPr/>
          <a:lstStyle/>
          <a:p>
            <a:endParaRPr lang="en-GB"/>
          </a:p>
        </p:txBody>
      </p:sp>
      <p:pic>
        <p:nvPicPr>
          <p:cNvPr id="19" name="Image 2" descr="assets/icon_trending_E930D8.png"/>
          <p:cNvPicPr>
            <a:picLocks noChangeAspect="1"/>
          </p:cNvPicPr>
          <p:nvPr/>
        </p:nvPicPr>
        <p:blipFill>
          <a:blip r:embed="rId5"/>
          <a:stretch>
            <a:fillRect/>
          </a:stretch>
        </p:blipFill>
        <p:spPr>
          <a:xfrm>
            <a:off x="690372" y="3488436"/>
            <a:ext cx="210312" cy="210312"/>
          </a:xfrm>
          <a:prstGeom prst="rect">
            <a:avLst/>
          </a:prstGeom>
        </p:spPr>
      </p:pic>
      <p:sp>
        <p:nvSpPr>
          <p:cNvPr id="20" name="Shape 15"/>
          <p:cNvSpPr/>
          <p:nvPr/>
        </p:nvSpPr>
        <p:spPr>
          <a:xfrm>
            <a:off x="566928" y="3364992"/>
            <a:ext cx="457200" cy="457200"/>
          </a:xfrm>
          <a:prstGeom prst="ellipse">
            <a:avLst/>
          </a:prstGeom>
          <a:solidFill>
            <a:srgbClr val="0A0A18">
              <a:alpha val="0"/>
            </a:srgbClr>
          </a:solidFill>
          <a:ln w="19050">
            <a:solidFill>
              <a:srgbClr val="E930D8"/>
            </a:solidFill>
            <a:prstDash val="solid"/>
          </a:ln>
        </p:spPr>
        <p:txBody>
          <a:bodyPr/>
          <a:lstStyle/>
          <a:p>
            <a:endParaRPr lang="en-GB"/>
          </a:p>
        </p:txBody>
      </p:sp>
      <p:sp>
        <p:nvSpPr>
          <p:cNvPr id="21" name="Text 16"/>
          <p:cNvSpPr/>
          <p:nvPr/>
        </p:nvSpPr>
        <p:spPr>
          <a:xfrm>
            <a:off x="1234440" y="3328416"/>
            <a:ext cx="57607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Built for the hills</a:t>
            </a:r>
            <a:endParaRPr lang="en-US" sz="1400" dirty="0"/>
          </a:p>
        </p:txBody>
      </p:sp>
      <p:sp>
        <p:nvSpPr>
          <p:cNvPr id="22" name="Text 17"/>
          <p:cNvSpPr/>
          <p:nvPr/>
        </p:nvSpPr>
        <p:spPr>
          <a:xfrm>
            <a:off x="1234440" y="3602736"/>
            <a:ext cx="5897880" cy="658368"/>
          </a:xfrm>
          <a:prstGeom prst="rect">
            <a:avLst/>
          </a:prstGeom>
          <a:noFill/>
          <a:ln/>
        </p:spPr>
        <p:txBody>
          <a:bodyPr wrap="square" rtlCol="0" anchor="ctr"/>
          <a:lstStyle/>
          <a:p>
            <a:pPr marL="0" indent="0">
              <a:lnSpc>
                <a:spcPct val="114000"/>
              </a:lnSpc>
              <a:buNone/>
            </a:pPr>
            <a:r>
              <a:rPr lang="en-US" sz="1100" dirty="0">
                <a:solidFill>
                  <a:srgbClr val="A9B4D0"/>
                </a:solidFill>
                <a:latin typeface="Calibri" pitchFamily="34" charset="0"/>
                <a:ea typeface="Calibri" pitchFamily="34" charset="-122"/>
                <a:cs typeface="Calibri" pitchFamily="34" charset="-120"/>
              </a:rPr>
              <a:t>Electric-assist bikes were part of the design from the start. Lisbon's topography made them essential, and it still shapes where stations fail.</a:t>
            </a:r>
            <a:endParaRPr lang="en-US" sz="1100" dirty="0"/>
          </a:p>
        </p:txBody>
      </p:sp>
      <p:sp>
        <p:nvSpPr>
          <p:cNvPr id="23" name="Shape 18"/>
          <p:cNvSpPr/>
          <p:nvPr/>
        </p:nvSpPr>
        <p:spPr>
          <a:xfrm>
            <a:off x="566928" y="4334256"/>
            <a:ext cx="457200" cy="457200"/>
          </a:xfrm>
          <a:prstGeom prst="ellipse">
            <a:avLst/>
          </a:prstGeom>
          <a:solidFill>
            <a:srgbClr val="0A0A18"/>
          </a:solidFill>
          <a:ln/>
        </p:spPr>
        <p:txBody>
          <a:bodyPr/>
          <a:lstStyle/>
          <a:p>
            <a:endParaRPr lang="en-GB"/>
          </a:p>
        </p:txBody>
      </p:sp>
      <p:pic>
        <p:nvPicPr>
          <p:cNvPr id="24" name="Image 3" descr="assets/icon_mappin_7B2FF7.png"/>
          <p:cNvPicPr>
            <a:picLocks noChangeAspect="1"/>
          </p:cNvPicPr>
          <p:nvPr/>
        </p:nvPicPr>
        <p:blipFill>
          <a:blip r:embed="rId6"/>
          <a:stretch>
            <a:fillRect/>
          </a:stretch>
        </p:blipFill>
        <p:spPr>
          <a:xfrm>
            <a:off x="690372" y="4457700"/>
            <a:ext cx="210312" cy="210312"/>
          </a:xfrm>
          <a:prstGeom prst="rect">
            <a:avLst/>
          </a:prstGeom>
        </p:spPr>
      </p:pic>
      <p:sp>
        <p:nvSpPr>
          <p:cNvPr id="25" name="Shape 19"/>
          <p:cNvSpPr/>
          <p:nvPr/>
        </p:nvSpPr>
        <p:spPr>
          <a:xfrm>
            <a:off x="566928" y="4334256"/>
            <a:ext cx="457200" cy="457200"/>
          </a:xfrm>
          <a:prstGeom prst="ellipse">
            <a:avLst/>
          </a:prstGeom>
          <a:solidFill>
            <a:srgbClr val="0A0A18">
              <a:alpha val="0"/>
            </a:srgbClr>
          </a:solidFill>
          <a:ln w="19050">
            <a:solidFill>
              <a:srgbClr val="7B2FF7"/>
            </a:solidFill>
            <a:prstDash val="solid"/>
          </a:ln>
        </p:spPr>
        <p:txBody>
          <a:bodyPr/>
          <a:lstStyle/>
          <a:p>
            <a:endParaRPr lang="en-GB"/>
          </a:p>
        </p:txBody>
      </p:sp>
      <p:sp>
        <p:nvSpPr>
          <p:cNvPr id="26" name="Text 20"/>
          <p:cNvSpPr/>
          <p:nvPr/>
        </p:nvSpPr>
        <p:spPr>
          <a:xfrm>
            <a:off x="1234440" y="4297680"/>
            <a:ext cx="57607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Citywide growth</a:t>
            </a:r>
            <a:endParaRPr lang="en-US" sz="1400" dirty="0"/>
          </a:p>
        </p:txBody>
      </p:sp>
      <p:sp>
        <p:nvSpPr>
          <p:cNvPr id="27" name="Text 21"/>
          <p:cNvSpPr/>
          <p:nvPr/>
        </p:nvSpPr>
        <p:spPr>
          <a:xfrm>
            <a:off x="1234440" y="4572000"/>
            <a:ext cx="5897880" cy="658368"/>
          </a:xfrm>
          <a:prstGeom prst="rect">
            <a:avLst/>
          </a:prstGeom>
          <a:noFill/>
          <a:ln/>
        </p:spPr>
        <p:txBody>
          <a:bodyPr wrap="square" rtlCol="0" anchor="ctr"/>
          <a:lstStyle/>
          <a:p>
            <a:pPr marL="0" indent="0">
              <a:lnSpc>
                <a:spcPct val="114000"/>
              </a:lnSpc>
              <a:buNone/>
            </a:pPr>
            <a:r>
              <a:rPr lang="en-US" sz="1100" dirty="0">
                <a:solidFill>
                  <a:srgbClr val="A9B4D0"/>
                </a:solidFill>
                <a:latin typeface="Calibri" pitchFamily="34" charset="0"/>
                <a:ea typeface="Calibri" pitchFamily="34" charset="-122"/>
                <a:cs typeface="Calibri" pitchFamily="34" charset="-120"/>
              </a:rPr>
              <a:t>The docked network expanded from the riverside outward, station by station, across the years this project studies.</a:t>
            </a:r>
            <a:endParaRPr lang="en-US" sz="1100" dirty="0"/>
          </a:p>
        </p:txBody>
      </p:sp>
      <p:sp>
        <p:nvSpPr>
          <p:cNvPr id="28" name="Shape 22"/>
          <p:cNvSpPr/>
          <p:nvPr/>
        </p:nvSpPr>
        <p:spPr>
          <a:xfrm>
            <a:off x="566928" y="5303520"/>
            <a:ext cx="457200" cy="457200"/>
          </a:xfrm>
          <a:prstGeom prst="ellipse">
            <a:avLst/>
          </a:prstGeom>
          <a:solidFill>
            <a:srgbClr val="0A0A18"/>
          </a:solidFill>
          <a:ln/>
        </p:spPr>
        <p:txBody>
          <a:bodyPr/>
          <a:lstStyle/>
          <a:p>
            <a:endParaRPr lang="en-GB"/>
          </a:p>
        </p:txBody>
      </p:sp>
      <p:pic>
        <p:nvPicPr>
          <p:cNvPr id="29" name="Image 4" descr="assets/icon_check_22D3EE.png"/>
          <p:cNvPicPr>
            <a:picLocks noChangeAspect="1"/>
          </p:cNvPicPr>
          <p:nvPr/>
        </p:nvPicPr>
        <p:blipFill>
          <a:blip r:embed="rId7"/>
          <a:stretch>
            <a:fillRect/>
          </a:stretch>
        </p:blipFill>
        <p:spPr>
          <a:xfrm>
            <a:off x="690372" y="5426964"/>
            <a:ext cx="210312" cy="210312"/>
          </a:xfrm>
          <a:prstGeom prst="rect">
            <a:avLst/>
          </a:prstGeom>
        </p:spPr>
      </p:pic>
      <p:sp>
        <p:nvSpPr>
          <p:cNvPr id="30" name="Shape 23"/>
          <p:cNvSpPr/>
          <p:nvPr/>
        </p:nvSpPr>
        <p:spPr>
          <a:xfrm>
            <a:off x="566928" y="5303520"/>
            <a:ext cx="457200" cy="457200"/>
          </a:xfrm>
          <a:prstGeom prst="ellipse">
            <a:avLst/>
          </a:prstGeom>
          <a:solidFill>
            <a:srgbClr val="0A0A18">
              <a:alpha val="0"/>
            </a:srgbClr>
          </a:solidFill>
          <a:ln w="19050">
            <a:solidFill>
              <a:srgbClr val="22D3EE"/>
            </a:solidFill>
            <a:prstDash val="solid"/>
          </a:ln>
        </p:spPr>
        <p:txBody>
          <a:bodyPr/>
          <a:lstStyle/>
          <a:p>
            <a:endParaRPr lang="en-GB"/>
          </a:p>
        </p:txBody>
      </p:sp>
      <p:sp>
        <p:nvSpPr>
          <p:cNvPr id="31" name="Text 24"/>
          <p:cNvSpPr/>
          <p:nvPr/>
        </p:nvSpPr>
        <p:spPr>
          <a:xfrm>
            <a:off x="1234440" y="5266944"/>
            <a:ext cx="5760720" cy="27432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 proven habit</a:t>
            </a:r>
            <a:endParaRPr lang="en-US" sz="1400" dirty="0"/>
          </a:p>
        </p:txBody>
      </p:sp>
      <p:sp>
        <p:nvSpPr>
          <p:cNvPr id="32" name="Text 25"/>
          <p:cNvSpPr/>
          <p:nvPr/>
        </p:nvSpPr>
        <p:spPr>
          <a:xfrm>
            <a:off x="1234440" y="5541264"/>
            <a:ext cx="5897880" cy="658368"/>
          </a:xfrm>
          <a:prstGeom prst="rect">
            <a:avLst/>
          </a:prstGeom>
          <a:noFill/>
          <a:ln/>
        </p:spPr>
        <p:txBody>
          <a:bodyPr wrap="square" rtlCol="0" anchor="ctr"/>
          <a:lstStyle/>
          <a:p>
            <a:pPr marL="0" indent="0">
              <a:lnSpc>
                <a:spcPct val="114000"/>
              </a:lnSpc>
              <a:buNone/>
            </a:pPr>
            <a:r>
              <a:rPr lang="en-US" sz="1100" dirty="0">
                <a:solidFill>
                  <a:srgbClr val="A9B4D0"/>
                </a:solidFill>
                <a:latin typeface="Calibri" pitchFamily="34" charset="0"/>
                <a:ea typeface="Calibri" pitchFamily="34" charset="-122"/>
                <a:cs typeface="Calibri" pitchFamily="34" charset="-120"/>
              </a:rPr>
              <a:t>GIRA passed 10 million trips by 2023. Every empty dock in this data has a real rider behind it.</a:t>
            </a:r>
            <a:endParaRPr lang="en-US" sz="1100" dirty="0"/>
          </a:p>
        </p:txBody>
      </p:sp>
      <p:sp>
        <p:nvSpPr>
          <p:cNvPr id="33" name="Shape 26"/>
          <p:cNvSpPr/>
          <p:nvPr/>
        </p:nvSpPr>
        <p:spPr>
          <a:xfrm>
            <a:off x="7726680" y="2286000"/>
            <a:ext cx="3913632" cy="4041648"/>
          </a:xfrm>
          <a:prstGeom prst="roundRect">
            <a:avLst>
              <a:gd name="adj" fmla="val 1285"/>
            </a:avLst>
          </a:prstGeom>
          <a:solidFill>
            <a:srgbClr val="0E1030">
              <a:alpha val="82000"/>
            </a:srgbClr>
          </a:solidFill>
          <a:ln w="22225">
            <a:solidFill>
              <a:srgbClr val="22D3EE"/>
            </a:solidFill>
            <a:prstDash val="solid"/>
          </a:ln>
        </p:spPr>
        <p:txBody>
          <a:bodyPr/>
          <a:lstStyle/>
          <a:p>
            <a:endParaRPr lang="en-GB"/>
          </a:p>
        </p:txBody>
      </p:sp>
      <p:pic>
        <p:nvPicPr>
          <p:cNvPr id="34" name="Image 5" descr="assets/icon_bike_22D3EE.png"/>
          <p:cNvPicPr>
            <a:picLocks noChangeAspect="1"/>
          </p:cNvPicPr>
          <p:nvPr/>
        </p:nvPicPr>
        <p:blipFill>
          <a:blip r:embed="rId8"/>
          <a:stretch>
            <a:fillRect/>
          </a:stretch>
        </p:blipFill>
        <p:spPr>
          <a:xfrm>
            <a:off x="10881360" y="2414016"/>
            <a:ext cx="457200" cy="457200"/>
          </a:xfrm>
          <a:prstGeom prst="rect">
            <a:avLst/>
          </a:prstGeom>
        </p:spPr>
      </p:pic>
      <p:sp>
        <p:nvSpPr>
          <p:cNvPr id="35" name="Text 27"/>
          <p:cNvSpPr/>
          <p:nvPr/>
        </p:nvSpPr>
        <p:spPr>
          <a:xfrm>
            <a:off x="8001000" y="2487168"/>
            <a:ext cx="3383280" cy="274320"/>
          </a:xfrm>
          <a:prstGeom prst="rect">
            <a:avLst/>
          </a:prstGeom>
          <a:noFill/>
          <a:ln/>
        </p:spPr>
        <p:txBody>
          <a:bodyPr wrap="square" rtlCol="0" anchor="ctr"/>
          <a:lstStyle/>
          <a:p>
            <a:pPr marL="0" indent="0">
              <a:buNone/>
            </a:pPr>
            <a:r>
              <a:rPr lang="en-US" sz="1150" b="1" kern="0" spc="160" dirty="0">
                <a:solidFill>
                  <a:srgbClr val="22D3EE"/>
                </a:solidFill>
                <a:latin typeface="Calibri" pitchFamily="34" charset="0"/>
                <a:ea typeface="Calibri" pitchFamily="34" charset="-122"/>
                <a:cs typeface="Calibri" pitchFamily="34" charset="-120"/>
              </a:rPr>
              <a:t>GIRA TODAY</a:t>
            </a:r>
            <a:endParaRPr lang="en-US" sz="1150" dirty="0"/>
          </a:p>
        </p:txBody>
      </p:sp>
      <p:sp>
        <p:nvSpPr>
          <p:cNvPr id="36" name="Text 28"/>
          <p:cNvSpPr/>
          <p:nvPr/>
        </p:nvSpPr>
        <p:spPr>
          <a:xfrm>
            <a:off x="8001000" y="2907792"/>
            <a:ext cx="3383280" cy="502920"/>
          </a:xfrm>
          <a:prstGeom prst="rect">
            <a:avLst/>
          </a:prstGeom>
          <a:noFill/>
          <a:ln/>
        </p:spPr>
        <p:txBody>
          <a:bodyPr wrap="square" rtlCol="0" anchor="ctr"/>
          <a:lstStyle/>
          <a:p>
            <a:pPr marL="0" indent="0">
              <a:buNone/>
            </a:pPr>
            <a:r>
              <a:rPr lang="en-US" sz="3100" b="1" dirty="0">
                <a:solidFill>
                  <a:srgbClr val="FFFFFF"/>
                </a:solidFill>
                <a:latin typeface="Trebuchet MS" pitchFamily="34" charset="0"/>
                <a:ea typeface="Trebuchet MS" pitchFamily="34" charset="-122"/>
                <a:cs typeface="Trebuchet MS" pitchFamily="34" charset="-120"/>
              </a:rPr>
              <a:t>147</a:t>
            </a:r>
            <a:endParaRPr lang="en-US" sz="3100" dirty="0"/>
          </a:p>
        </p:txBody>
      </p:sp>
      <p:sp>
        <p:nvSpPr>
          <p:cNvPr id="37" name="Text 29"/>
          <p:cNvSpPr/>
          <p:nvPr/>
        </p:nvSpPr>
        <p:spPr>
          <a:xfrm>
            <a:off x="8001000" y="3419856"/>
            <a:ext cx="3383280" cy="457200"/>
          </a:xfrm>
          <a:prstGeom prst="rect">
            <a:avLst/>
          </a:prstGeom>
          <a:noFill/>
          <a:ln/>
        </p:spPr>
        <p:txBody>
          <a:bodyPr wrap="square" rtlCol="0" anchor="ctr"/>
          <a:lstStyle/>
          <a:p>
            <a:pPr marL="0" indent="0">
              <a:buNone/>
            </a:pPr>
            <a:r>
              <a:rPr lang="en-US" sz="1050" dirty="0">
                <a:solidFill>
                  <a:srgbClr val="A9B4D0"/>
                </a:solidFill>
                <a:latin typeface="Calibri" pitchFamily="34" charset="0"/>
                <a:ea typeface="Calibri" pitchFamily="34" charset="-122"/>
                <a:cs typeface="Calibri" pitchFamily="34" charset="-120"/>
              </a:rPr>
              <a:t>stations by 2023 Q1, up from 85</a:t>
            </a:r>
            <a:endParaRPr lang="en-US" sz="1050" dirty="0"/>
          </a:p>
        </p:txBody>
      </p:sp>
      <p:sp>
        <p:nvSpPr>
          <p:cNvPr id="38" name="Text 30"/>
          <p:cNvSpPr/>
          <p:nvPr/>
        </p:nvSpPr>
        <p:spPr>
          <a:xfrm>
            <a:off x="8001000" y="4023360"/>
            <a:ext cx="3383280" cy="502920"/>
          </a:xfrm>
          <a:prstGeom prst="rect">
            <a:avLst/>
          </a:prstGeom>
          <a:noFill/>
          <a:ln/>
        </p:spPr>
        <p:txBody>
          <a:bodyPr wrap="square" rtlCol="0" anchor="ctr"/>
          <a:lstStyle/>
          <a:p>
            <a:pPr marL="0" indent="0">
              <a:buNone/>
            </a:pPr>
            <a:r>
              <a:rPr lang="en-US" sz="3100" b="1" dirty="0">
                <a:solidFill>
                  <a:srgbClr val="FFFFFF"/>
                </a:solidFill>
                <a:latin typeface="Trebuchet MS" pitchFamily="34" charset="0"/>
                <a:ea typeface="Trebuchet MS" pitchFamily="34" charset="-122"/>
                <a:cs typeface="Trebuchet MS" pitchFamily="34" charset="-120"/>
              </a:rPr>
              <a:t>10M+</a:t>
            </a:r>
            <a:endParaRPr lang="en-US" sz="3100" dirty="0"/>
          </a:p>
        </p:txBody>
      </p:sp>
      <p:sp>
        <p:nvSpPr>
          <p:cNvPr id="39" name="Text 31"/>
          <p:cNvSpPr/>
          <p:nvPr/>
        </p:nvSpPr>
        <p:spPr>
          <a:xfrm>
            <a:off x="8001000" y="4535424"/>
            <a:ext cx="3383280" cy="457200"/>
          </a:xfrm>
          <a:prstGeom prst="rect">
            <a:avLst/>
          </a:prstGeom>
          <a:noFill/>
          <a:ln/>
        </p:spPr>
        <p:txBody>
          <a:bodyPr wrap="square" rtlCol="0" anchor="ctr"/>
          <a:lstStyle/>
          <a:p>
            <a:pPr marL="0" indent="0">
              <a:buNone/>
            </a:pPr>
            <a:r>
              <a:rPr lang="en-US" sz="1050" dirty="0">
                <a:solidFill>
                  <a:srgbClr val="A9B4D0"/>
                </a:solidFill>
                <a:latin typeface="Calibri" pitchFamily="34" charset="0"/>
                <a:ea typeface="Calibri" pitchFamily="34" charset="-122"/>
                <a:cs typeface="Calibri" pitchFamily="34" charset="-120"/>
              </a:rPr>
              <a:t>trips since the 2017 launch</a:t>
            </a:r>
            <a:endParaRPr lang="en-US" sz="1050" dirty="0"/>
          </a:p>
        </p:txBody>
      </p:sp>
      <p:sp>
        <p:nvSpPr>
          <p:cNvPr id="40" name="Text 32"/>
          <p:cNvSpPr/>
          <p:nvPr/>
        </p:nvSpPr>
        <p:spPr>
          <a:xfrm>
            <a:off x="8001000" y="5138928"/>
            <a:ext cx="3383280" cy="502920"/>
          </a:xfrm>
          <a:prstGeom prst="rect">
            <a:avLst/>
          </a:prstGeom>
          <a:noFill/>
          <a:ln/>
        </p:spPr>
        <p:txBody>
          <a:bodyPr wrap="square" rtlCol="0" anchor="ctr"/>
          <a:lstStyle/>
          <a:p>
            <a:pPr marL="0" indent="0">
              <a:buNone/>
            </a:pPr>
            <a:r>
              <a:rPr lang="en-US" sz="3100" b="1" dirty="0">
                <a:solidFill>
                  <a:srgbClr val="FFFFFF"/>
                </a:solidFill>
                <a:latin typeface="Trebuchet MS" pitchFamily="34" charset="0"/>
                <a:ea typeface="Trebuchet MS" pitchFamily="34" charset="-122"/>
                <a:cs typeface="Trebuchet MS" pitchFamily="34" charset="-120"/>
              </a:rPr>
              <a:t>1,700+</a:t>
            </a:r>
            <a:endParaRPr lang="en-US" sz="3100" dirty="0"/>
          </a:p>
        </p:txBody>
      </p:sp>
      <p:sp>
        <p:nvSpPr>
          <p:cNvPr id="41" name="Text 33"/>
          <p:cNvSpPr/>
          <p:nvPr/>
        </p:nvSpPr>
        <p:spPr>
          <a:xfrm>
            <a:off x="8001000" y="5650992"/>
            <a:ext cx="3383280" cy="457200"/>
          </a:xfrm>
          <a:prstGeom prst="rect">
            <a:avLst/>
          </a:prstGeom>
          <a:noFill/>
          <a:ln/>
        </p:spPr>
        <p:txBody>
          <a:bodyPr wrap="square" rtlCol="0" anchor="ctr"/>
          <a:lstStyle/>
          <a:p>
            <a:pPr marL="0" indent="0">
              <a:buNone/>
            </a:pPr>
            <a:r>
              <a:rPr lang="en-US" sz="1050" dirty="0">
                <a:solidFill>
                  <a:srgbClr val="A9B4D0"/>
                </a:solidFill>
                <a:latin typeface="Calibri" pitchFamily="34" charset="0"/>
                <a:ea typeface="Calibri" pitchFamily="34" charset="-122"/>
                <a:cs typeface="Calibri" pitchFamily="34" charset="-120"/>
              </a:rPr>
              <a:t>bikes, regular and electric-assist</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assets/bg_blue.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03</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THE BUSINESS QUESTION</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Riders keep finding stations empty or full</a:t>
            </a:r>
            <a:endParaRPr lang="en-US" sz="3400" dirty="0"/>
          </a:p>
        </p:txBody>
      </p:sp>
      <p:pic>
        <p:nvPicPr>
          <p:cNvPr id="13" name="Image 1" descr="assets/icon_bike_1C2242.png"/>
          <p:cNvPicPr>
            <a:picLocks noChangeAspect="1"/>
          </p:cNvPicPr>
          <p:nvPr/>
        </p:nvPicPr>
        <p:blipFill>
          <a:blip r:embed="rId4"/>
          <a:stretch>
            <a:fillRect/>
          </a:stretch>
        </p:blipFill>
        <p:spPr>
          <a:xfrm>
            <a:off x="10195560" y="4800600"/>
            <a:ext cx="1417320" cy="1417320"/>
          </a:xfrm>
          <a:prstGeom prst="rect">
            <a:avLst/>
          </a:prstGeom>
        </p:spPr>
      </p:pic>
      <p:sp>
        <p:nvSpPr>
          <p:cNvPr id="14" name="Shape 10"/>
          <p:cNvSpPr/>
          <p:nvPr/>
        </p:nvSpPr>
        <p:spPr>
          <a:xfrm>
            <a:off x="566928" y="2286000"/>
            <a:ext cx="11064240" cy="1298448"/>
          </a:xfrm>
          <a:prstGeom prst="roundRect">
            <a:avLst>
              <a:gd name="adj" fmla="val 3873"/>
            </a:avLst>
          </a:prstGeom>
          <a:solidFill>
            <a:srgbClr val="0E1030">
              <a:alpha val="82000"/>
            </a:srgbClr>
          </a:solidFill>
          <a:ln w="22225">
            <a:solidFill>
              <a:srgbClr val="22D3EE"/>
            </a:solidFill>
            <a:prstDash val="solid"/>
          </a:ln>
        </p:spPr>
        <p:txBody>
          <a:bodyPr/>
          <a:lstStyle/>
          <a:p>
            <a:endParaRPr lang="en-GB"/>
          </a:p>
        </p:txBody>
      </p:sp>
      <p:sp>
        <p:nvSpPr>
          <p:cNvPr id="15" name="Text 11"/>
          <p:cNvSpPr/>
          <p:nvPr/>
        </p:nvSpPr>
        <p:spPr>
          <a:xfrm>
            <a:off x="868680" y="2414016"/>
            <a:ext cx="10424160" cy="694944"/>
          </a:xfrm>
          <a:prstGeom prst="rect">
            <a:avLst/>
          </a:prstGeom>
          <a:noFill/>
          <a:ln/>
        </p:spPr>
        <p:txBody>
          <a:bodyPr wrap="square" rtlCol="0" anchor="ctr"/>
          <a:lstStyle/>
          <a:p>
            <a:pPr marL="0" indent="0">
              <a:buNone/>
            </a:pPr>
            <a:r>
              <a:rPr lang="en-US" sz="1550" i="1" dirty="0">
                <a:solidFill>
                  <a:srgbClr val="FFFFFF"/>
                </a:solidFill>
                <a:latin typeface="Calibri" pitchFamily="34" charset="0"/>
                <a:ea typeface="Calibri" pitchFamily="34" charset="-122"/>
                <a:cs typeface="Calibri" pitchFamily="34" charset="-120"/>
              </a:rPr>
              <a:t>Riders arrive to find no bike, or no free dock, and EMEL cannot tell which stations at which hours need bikes moved first.</a:t>
            </a:r>
            <a:endParaRPr lang="en-US" sz="1550" dirty="0"/>
          </a:p>
        </p:txBody>
      </p:sp>
      <p:sp>
        <p:nvSpPr>
          <p:cNvPr id="16" name="Text 12"/>
          <p:cNvSpPr/>
          <p:nvPr/>
        </p:nvSpPr>
        <p:spPr>
          <a:xfrm>
            <a:off x="868680" y="3127248"/>
            <a:ext cx="5486400" cy="274320"/>
          </a:xfrm>
          <a:prstGeom prst="rect">
            <a:avLst/>
          </a:prstGeom>
          <a:noFill/>
          <a:ln/>
        </p:spPr>
        <p:txBody>
          <a:bodyPr wrap="square" rtlCol="0" anchor="ctr"/>
          <a:lstStyle/>
          <a:p>
            <a:pPr marL="0" indent="0">
              <a:buNone/>
            </a:pPr>
            <a:r>
              <a:rPr lang="en-US" sz="1050" dirty="0">
                <a:solidFill>
                  <a:srgbClr val="BFD0F5"/>
                </a:solidFill>
                <a:latin typeface="Calibri" pitchFamily="34" charset="0"/>
                <a:ea typeface="Calibri" pitchFamily="34" charset="-122"/>
                <a:cs typeface="Calibri" pitchFamily="34" charset="-120"/>
              </a:rPr>
              <a:t>The operational problem, in one sentence</a:t>
            </a:r>
            <a:endParaRPr lang="en-US" sz="1050" dirty="0"/>
          </a:p>
        </p:txBody>
      </p:sp>
      <p:sp>
        <p:nvSpPr>
          <p:cNvPr id="17" name="Text 13"/>
          <p:cNvSpPr/>
          <p:nvPr/>
        </p:nvSpPr>
        <p:spPr>
          <a:xfrm>
            <a:off x="566928" y="3657600"/>
            <a:ext cx="4572000" cy="274320"/>
          </a:xfrm>
          <a:prstGeom prst="rect">
            <a:avLst/>
          </a:prstGeom>
          <a:noFill/>
          <a:ln/>
        </p:spPr>
        <p:txBody>
          <a:bodyPr wrap="square" rtlCol="0" anchor="ctr"/>
          <a:lstStyle/>
          <a:p>
            <a:pPr marL="0" indent="0">
              <a:buNone/>
            </a:pPr>
            <a:r>
              <a:rPr lang="en-US" sz="1150" b="1" kern="0" spc="160" dirty="0">
                <a:solidFill>
                  <a:srgbClr val="E930D8"/>
                </a:solidFill>
                <a:latin typeface="Calibri" pitchFamily="34" charset="0"/>
                <a:ea typeface="Calibri" pitchFamily="34" charset="-122"/>
                <a:cs typeface="Calibri" pitchFamily="34" charset="-120"/>
              </a:rPr>
              <a:t>MAIN QUESTION</a:t>
            </a:r>
            <a:endParaRPr lang="en-US" sz="1150" dirty="0"/>
          </a:p>
        </p:txBody>
      </p:sp>
      <p:sp>
        <p:nvSpPr>
          <p:cNvPr id="18" name="Text 14"/>
          <p:cNvSpPr/>
          <p:nvPr/>
        </p:nvSpPr>
        <p:spPr>
          <a:xfrm>
            <a:off x="566928" y="3931920"/>
            <a:ext cx="11064240" cy="731520"/>
          </a:xfrm>
          <a:prstGeom prst="rect">
            <a:avLst/>
          </a:prstGeom>
          <a:noFill/>
          <a:ln/>
        </p:spPr>
        <p:txBody>
          <a:bodyPr wrap="square" rtlCol="0" anchor="ctr"/>
          <a:lstStyle/>
          <a:p>
            <a:pPr marL="0" indent="0">
              <a:lnSpc>
                <a:spcPct val="118000"/>
              </a:lnSpc>
              <a:buNone/>
            </a:pPr>
            <a:r>
              <a:rPr lang="en-US" sz="1650" dirty="0">
                <a:solidFill>
                  <a:srgbClr val="FFFFFF"/>
                </a:solidFill>
                <a:latin typeface="Calibri" pitchFamily="34" charset="0"/>
                <a:ea typeface="Calibri" pitchFamily="34" charset="-122"/>
                <a:cs typeface="Calibri" pitchFamily="34" charset="-120"/>
              </a:rPr>
              <a:t>Where and when does the GIRA network fail its users, and how should EMEL prioritize rebalancing and expansion?</a:t>
            </a:r>
            <a:endParaRPr lang="en-US" sz="1650" dirty="0"/>
          </a:p>
        </p:txBody>
      </p:sp>
      <p:sp>
        <p:nvSpPr>
          <p:cNvPr id="19" name="Shape 15"/>
          <p:cNvSpPr/>
          <p:nvPr/>
        </p:nvSpPr>
        <p:spPr>
          <a:xfrm>
            <a:off x="566928" y="4864608"/>
            <a:ext cx="3566160" cy="1481328"/>
          </a:xfrm>
          <a:prstGeom prst="roundRect">
            <a:avLst>
              <a:gd name="adj" fmla="val 3395"/>
            </a:avLst>
          </a:prstGeom>
          <a:solidFill>
            <a:srgbClr val="0E1030">
              <a:alpha val="82000"/>
            </a:srgbClr>
          </a:solidFill>
          <a:ln w="22225">
            <a:solidFill>
              <a:srgbClr val="22D3EE"/>
            </a:solidFill>
            <a:prstDash val="solid"/>
          </a:ln>
        </p:spPr>
        <p:txBody>
          <a:bodyPr/>
          <a:lstStyle/>
          <a:p>
            <a:endParaRPr lang="en-GB"/>
          </a:p>
        </p:txBody>
      </p:sp>
      <p:sp>
        <p:nvSpPr>
          <p:cNvPr id="20" name="Shape 16"/>
          <p:cNvSpPr/>
          <p:nvPr/>
        </p:nvSpPr>
        <p:spPr>
          <a:xfrm>
            <a:off x="822960" y="5056632"/>
            <a:ext cx="402336" cy="402336"/>
          </a:xfrm>
          <a:prstGeom prst="ellipse">
            <a:avLst/>
          </a:prstGeom>
          <a:solidFill>
            <a:srgbClr val="0A0A18"/>
          </a:solidFill>
          <a:ln/>
        </p:spPr>
        <p:txBody>
          <a:bodyPr/>
          <a:lstStyle/>
          <a:p>
            <a:endParaRPr lang="en-GB"/>
          </a:p>
        </p:txBody>
      </p:sp>
      <p:pic>
        <p:nvPicPr>
          <p:cNvPr id="21" name="Image 2" descr="assets/icon_clock_22D3EE.png"/>
          <p:cNvPicPr>
            <a:picLocks noChangeAspect="1"/>
          </p:cNvPicPr>
          <p:nvPr/>
        </p:nvPicPr>
        <p:blipFill>
          <a:blip r:embed="rId5"/>
          <a:stretch>
            <a:fillRect/>
          </a:stretch>
        </p:blipFill>
        <p:spPr>
          <a:xfrm>
            <a:off x="931591" y="5165263"/>
            <a:ext cx="185075" cy="185075"/>
          </a:xfrm>
          <a:prstGeom prst="rect">
            <a:avLst/>
          </a:prstGeom>
        </p:spPr>
      </p:pic>
      <p:sp>
        <p:nvSpPr>
          <p:cNvPr id="22" name="Text 17"/>
          <p:cNvSpPr/>
          <p:nvPr/>
        </p:nvSpPr>
        <p:spPr>
          <a:xfrm>
            <a:off x="1344168" y="5074920"/>
            <a:ext cx="2651760" cy="292608"/>
          </a:xfrm>
          <a:prstGeom prst="rect">
            <a:avLst/>
          </a:prstGeom>
          <a:noFill/>
          <a:ln/>
        </p:spPr>
        <p:txBody>
          <a:bodyPr wrap="square" rtlCol="0" anchor="ctr"/>
          <a:lstStyle/>
          <a:p>
            <a:pPr marL="0" indent="0">
              <a:buNone/>
            </a:pPr>
            <a:r>
              <a:rPr lang="en-US" sz="1300" b="1" dirty="0">
                <a:solidFill>
                  <a:srgbClr val="22D3EE"/>
                </a:solidFill>
                <a:latin typeface="Calibri" pitchFamily="34" charset="0"/>
                <a:ea typeface="Calibri" pitchFamily="34" charset="-122"/>
                <a:cs typeface="Calibri" pitchFamily="34" charset="-120"/>
              </a:rPr>
              <a:t>SQ1 · WHEN</a:t>
            </a:r>
            <a:endParaRPr lang="en-US" sz="1300" dirty="0"/>
          </a:p>
        </p:txBody>
      </p:sp>
      <p:sp>
        <p:nvSpPr>
          <p:cNvPr id="23" name="Text 18"/>
          <p:cNvSpPr/>
          <p:nvPr/>
        </p:nvSpPr>
        <p:spPr>
          <a:xfrm>
            <a:off x="822960" y="5541264"/>
            <a:ext cx="3063240" cy="658368"/>
          </a:xfrm>
          <a:prstGeom prst="rect">
            <a:avLst/>
          </a:prstGeom>
          <a:noFill/>
          <a:ln/>
        </p:spPr>
        <p:txBody>
          <a:bodyPr wrap="square" rtlCol="0" anchor="ctr"/>
          <a:lstStyle/>
          <a:p>
            <a:pPr marL="0" indent="0">
              <a:lnSpc>
                <a:spcPct val="112000"/>
              </a:lnSpc>
              <a:buNone/>
            </a:pPr>
            <a:r>
              <a:rPr lang="en-US" sz="1050" dirty="0">
                <a:solidFill>
                  <a:srgbClr val="A9B4D0"/>
                </a:solidFill>
                <a:latin typeface="Calibri" pitchFamily="34" charset="0"/>
                <a:ea typeface="Calibri" pitchFamily="34" charset="-122"/>
                <a:cs typeface="Calibri" pitchFamily="34" charset="-120"/>
              </a:rPr>
              <a:t>Failure rates by hour, weekday vs weekend, and month.</a:t>
            </a:r>
            <a:endParaRPr lang="en-US" sz="1050" dirty="0"/>
          </a:p>
        </p:txBody>
      </p:sp>
      <p:sp>
        <p:nvSpPr>
          <p:cNvPr id="24" name="Shape 19"/>
          <p:cNvSpPr/>
          <p:nvPr/>
        </p:nvSpPr>
        <p:spPr>
          <a:xfrm>
            <a:off x="4315968" y="4864608"/>
            <a:ext cx="3566160" cy="1481328"/>
          </a:xfrm>
          <a:prstGeom prst="roundRect">
            <a:avLst>
              <a:gd name="adj" fmla="val 3395"/>
            </a:avLst>
          </a:prstGeom>
          <a:solidFill>
            <a:srgbClr val="0E1030">
              <a:alpha val="82000"/>
            </a:srgbClr>
          </a:solidFill>
          <a:ln w="22225">
            <a:solidFill>
              <a:srgbClr val="E930D8"/>
            </a:solidFill>
            <a:prstDash val="solid"/>
          </a:ln>
        </p:spPr>
        <p:txBody>
          <a:bodyPr/>
          <a:lstStyle/>
          <a:p>
            <a:endParaRPr lang="en-GB"/>
          </a:p>
        </p:txBody>
      </p:sp>
      <p:sp>
        <p:nvSpPr>
          <p:cNvPr id="25" name="Shape 20"/>
          <p:cNvSpPr/>
          <p:nvPr/>
        </p:nvSpPr>
        <p:spPr>
          <a:xfrm>
            <a:off x="4572000" y="5056632"/>
            <a:ext cx="402336" cy="402336"/>
          </a:xfrm>
          <a:prstGeom prst="ellipse">
            <a:avLst/>
          </a:prstGeom>
          <a:solidFill>
            <a:srgbClr val="0A0A18"/>
          </a:solidFill>
          <a:ln/>
        </p:spPr>
        <p:txBody>
          <a:bodyPr/>
          <a:lstStyle/>
          <a:p>
            <a:endParaRPr lang="en-GB"/>
          </a:p>
        </p:txBody>
      </p:sp>
      <p:pic>
        <p:nvPicPr>
          <p:cNvPr id="26" name="Image 3" descr="assets/icon_mappin_E930D8.png"/>
          <p:cNvPicPr>
            <a:picLocks noChangeAspect="1"/>
          </p:cNvPicPr>
          <p:nvPr/>
        </p:nvPicPr>
        <p:blipFill>
          <a:blip r:embed="rId6"/>
          <a:stretch>
            <a:fillRect/>
          </a:stretch>
        </p:blipFill>
        <p:spPr>
          <a:xfrm>
            <a:off x="4680631" y="5165263"/>
            <a:ext cx="185075" cy="185075"/>
          </a:xfrm>
          <a:prstGeom prst="rect">
            <a:avLst/>
          </a:prstGeom>
        </p:spPr>
      </p:pic>
      <p:sp>
        <p:nvSpPr>
          <p:cNvPr id="27" name="Text 21"/>
          <p:cNvSpPr/>
          <p:nvPr/>
        </p:nvSpPr>
        <p:spPr>
          <a:xfrm>
            <a:off x="5093208" y="5074920"/>
            <a:ext cx="2651760" cy="292608"/>
          </a:xfrm>
          <a:prstGeom prst="rect">
            <a:avLst/>
          </a:prstGeom>
          <a:noFill/>
          <a:ln/>
        </p:spPr>
        <p:txBody>
          <a:bodyPr wrap="square" rtlCol="0" anchor="ctr"/>
          <a:lstStyle/>
          <a:p>
            <a:pPr marL="0" indent="0">
              <a:buNone/>
            </a:pPr>
            <a:r>
              <a:rPr lang="en-US" sz="1300" b="1" dirty="0">
                <a:solidFill>
                  <a:srgbClr val="E930D8"/>
                </a:solidFill>
                <a:latin typeface="Calibri" pitchFamily="34" charset="0"/>
                <a:ea typeface="Calibri" pitchFamily="34" charset="-122"/>
                <a:cs typeface="Calibri" pitchFamily="34" charset="-120"/>
              </a:rPr>
              <a:t>SQ2 · WHERE</a:t>
            </a:r>
            <a:endParaRPr lang="en-US" sz="1300" dirty="0"/>
          </a:p>
        </p:txBody>
      </p:sp>
      <p:sp>
        <p:nvSpPr>
          <p:cNvPr id="28" name="Text 22"/>
          <p:cNvSpPr/>
          <p:nvPr/>
        </p:nvSpPr>
        <p:spPr>
          <a:xfrm>
            <a:off x="4572000" y="5541264"/>
            <a:ext cx="3063240" cy="658368"/>
          </a:xfrm>
          <a:prstGeom prst="rect">
            <a:avLst/>
          </a:prstGeom>
          <a:noFill/>
          <a:ln/>
        </p:spPr>
        <p:txBody>
          <a:bodyPr wrap="square" rtlCol="0" anchor="ctr"/>
          <a:lstStyle/>
          <a:p>
            <a:pPr marL="0" indent="0">
              <a:lnSpc>
                <a:spcPct val="112000"/>
              </a:lnSpc>
              <a:buNone/>
            </a:pPr>
            <a:r>
              <a:rPr lang="en-US" sz="1050" dirty="0">
                <a:solidFill>
                  <a:srgbClr val="A9B4D0"/>
                </a:solidFill>
                <a:latin typeface="Calibri" pitchFamily="34" charset="0"/>
                <a:ea typeface="Calibri" pitchFamily="34" charset="-122"/>
                <a:cs typeface="Calibri" pitchFamily="34" charset="-120"/>
              </a:rPr>
              <a:t>Which stations fail, and does Lisbon's geography explain it?</a:t>
            </a:r>
            <a:endParaRPr lang="en-US" sz="1050" dirty="0"/>
          </a:p>
        </p:txBody>
      </p:sp>
      <p:sp>
        <p:nvSpPr>
          <p:cNvPr id="29" name="Shape 23"/>
          <p:cNvSpPr/>
          <p:nvPr/>
        </p:nvSpPr>
        <p:spPr>
          <a:xfrm>
            <a:off x="8065008" y="4864608"/>
            <a:ext cx="3566160" cy="1481328"/>
          </a:xfrm>
          <a:prstGeom prst="roundRect">
            <a:avLst>
              <a:gd name="adj" fmla="val 3395"/>
            </a:avLst>
          </a:prstGeom>
          <a:solidFill>
            <a:srgbClr val="0E1030">
              <a:alpha val="82000"/>
            </a:srgbClr>
          </a:solidFill>
          <a:ln w="22225">
            <a:solidFill>
              <a:srgbClr val="7B2FF7"/>
            </a:solidFill>
            <a:prstDash val="solid"/>
          </a:ln>
        </p:spPr>
        <p:txBody>
          <a:bodyPr/>
          <a:lstStyle/>
          <a:p>
            <a:endParaRPr lang="en-GB"/>
          </a:p>
        </p:txBody>
      </p:sp>
      <p:sp>
        <p:nvSpPr>
          <p:cNvPr id="30" name="Shape 24"/>
          <p:cNvSpPr/>
          <p:nvPr/>
        </p:nvSpPr>
        <p:spPr>
          <a:xfrm>
            <a:off x="8321040" y="5056632"/>
            <a:ext cx="402336" cy="402336"/>
          </a:xfrm>
          <a:prstGeom prst="ellipse">
            <a:avLst/>
          </a:prstGeom>
          <a:solidFill>
            <a:srgbClr val="0A0A18"/>
          </a:solidFill>
          <a:ln/>
        </p:spPr>
        <p:txBody>
          <a:bodyPr/>
          <a:lstStyle/>
          <a:p>
            <a:endParaRPr lang="en-GB"/>
          </a:p>
        </p:txBody>
      </p:sp>
      <p:pic>
        <p:nvPicPr>
          <p:cNvPr id="31" name="Image 4" descr="assets/icon_target_7B2FF7.png"/>
          <p:cNvPicPr>
            <a:picLocks noChangeAspect="1"/>
          </p:cNvPicPr>
          <p:nvPr/>
        </p:nvPicPr>
        <p:blipFill>
          <a:blip r:embed="rId7"/>
          <a:stretch>
            <a:fillRect/>
          </a:stretch>
        </p:blipFill>
        <p:spPr>
          <a:xfrm>
            <a:off x="8429671" y="5165263"/>
            <a:ext cx="185075" cy="185075"/>
          </a:xfrm>
          <a:prstGeom prst="rect">
            <a:avLst/>
          </a:prstGeom>
        </p:spPr>
      </p:pic>
      <p:sp>
        <p:nvSpPr>
          <p:cNvPr id="32" name="Text 25"/>
          <p:cNvSpPr/>
          <p:nvPr/>
        </p:nvSpPr>
        <p:spPr>
          <a:xfrm>
            <a:off x="8842248" y="5074920"/>
            <a:ext cx="2651760" cy="292608"/>
          </a:xfrm>
          <a:prstGeom prst="rect">
            <a:avLst/>
          </a:prstGeom>
          <a:noFill/>
          <a:ln/>
        </p:spPr>
        <p:txBody>
          <a:bodyPr wrap="square" rtlCol="0" anchor="ctr"/>
          <a:lstStyle/>
          <a:p>
            <a:pPr marL="0" indent="0">
              <a:buNone/>
            </a:pPr>
            <a:r>
              <a:rPr lang="en-US" sz="1300" b="1" dirty="0">
                <a:solidFill>
                  <a:srgbClr val="7B2FF7"/>
                </a:solidFill>
                <a:latin typeface="Calibri" pitchFamily="34" charset="0"/>
                <a:ea typeface="Calibri" pitchFamily="34" charset="-122"/>
                <a:cs typeface="Calibri" pitchFamily="34" charset="-120"/>
              </a:rPr>
              <a:t>SQ3 · WHAT</a:t>
            </a:r>
            <a:endParaRPr lang="en-US" sz="1300" dirty="0"/>
          </a:p>
        </p:txBody>
      </p:sp>
      <p:sp>
        <p:nvSpPr>
          <p:cNvPr id="33" name="Text 26"/>
          <p:cNvSpPr/>
          <p:nvPr/>
        </p:nvSpPr>
        <p:spPr>
          <a:xfrm>
            <a:off x="8321040" y="5541264"/>
            <a:ext cx="3063240" cy="658368"/>
          </a:xfrm>
          <a:prstGeom prst="rect">
            <a:avLst/>
          </a:prstGeom>
          <a:noFill/>
          <a:ln/>
        </p:spPr>
        <p:txBody>
          <a:bodyPr wrap="square" rtlCol="0" anchor="ctr"/>
          <a:lstStyle/>
          <a:p>
            <a:pPr marL="0" indent="0">
              <a:lnSpc>
                <a:spcPct val="112000"/>
              </a:lnSpc>
              <a:buNone/>
            </a:pPr>
            <a:r>
              <a:rPr lang="en-US" sz="1050" dirty="0">
                <a:solidFill>
                  <a:srgbClr val="A9B4D0"/>
                </a:solidFill>
                <a:latin typeface="Calibri" pitchFamily="34" charset="0"/>
                <a:ea typeface="Calibri" pitchFamily="34" charset="-122"/>
                <a:cs typeface="Calibri" pitchFamily="34" charset="-120"/>
              </a:rPr>
              <a:t>Rebalancing priorities, van loops, and whether expansion aimed right.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04</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THE DATA</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Four years of station snapshots, two schemas</a:t>
            </a:r>
            <a:endParaRPr lang="en-US" sz="3400" dirty="0"/>
          </a:p>
        </p:txBody>
      </p:sp>
      <p:sp>
        <p:nvSpPr>
          <p:cNvPr id="13" name="Text 10"/>
          <p:cNvSpPr/>
          <p:nvPr/>
        </p:nvSpPr>
        <p:spPr>
          <a:xfrm>
            <a:off x="566928" y="2286000"/>
            <a:ext cx="6858000" cy="777240"/>
          </a:xfrm>
          <a:prstGeom prst="rect">
            <a:avLst/>
          </a:prstGeom>
          <a:noFill/>
          <a:ln/>
        </p:spPr>
        <p:txBody>
          <a:bodyPr wrap="square" rtlCol="0" anchor="ctr"/>
          <a:lstStyle/>
          <a:p>
            <a:pPr marL="0" indent="0">
              <a:lnSpc>
                <a:spcPct val="122000"/>
              </a:lnSpc>
              <a:buNone/>
            </a:pPr>
            <a:r>
              <a:rPr lang="en-US" sz="1250" dirty="0">
                <a:solidFill>
                  <a:srgbClr val="A9B4D0"/>
                </a:solidFill>
                <a:latin typeface="Calibri" pitchFamily="34" charset="0"/>
                <a:ea typeface="Calibri" pitchFamily="34" charset="-122"/>
                <a:cs typeface="Calibri" pitchFamily="34" charset="-120"/>
              </a:rPr>
              <a:t>Every row is one station at one moment: bikes available and free docks. It is not trip data. So every question here is about availability and occupancy, never about journeys.</a:t>
            </a:r>
            <a:endParaRPr lang="en-US" sz="1250" dirty="0"/>
          </a:p>
        </p:txBody>
      </p:sp>
      <p:sp>
        <p:nvSpPr>
          <p:cNvPr id="14" name="Text 11"/>
          <p:cNvSpPr/>
          <p:nvPr/>
        </p:nvSpPr>
        <p:spPr>
          <a:xfrm>
            <a:off x="566928" y="3200400"/>
            <a:ext cx="4572000" cy="274320"/>
          </a:xfrm>
          <a:prstGeom prst="rect">
            <a:avLst/>
          </a:prstGeom>
          <a:noFill/>
          <a:ln/>
        </p:spPr>
        <p:txBody>
          <a:bodyPr wrap="square" rtlCol="0" anchor="ctr"/>
          <a:lstStyle/>
          <a:p>
            <a:pPr marL="0" indent="0">
              <a:buNone/>
            </a:pPr>
            <a:r>
              <a:rPr lang="en-US" sz="1150" b="1" kern="0" spc="140" dirty="0">
                <a:solidFill>
                  <a:srgbClr val="E930D8"/>
                </a:solidFill>
                <a:latin typeface="Calibri" pitchFamily="34" charset="0"/>
                <a:ea typeface="Calibri" pitchFamily="34" charset="-122"/>
                <a:cs typeface="Calibri" pitchFamily="34" charset="-120"/>
              </a:rPr>
              <a:t>8 SOURCE FILES</a:t>
            </a:r>
            <a:endParaRPr lang="en-US" sz="1150" dirty="0"/>
          </a:p>
        </p:txBody>
      </p:sp>
      <p:sp>
        <p:nvSpPr>
          <p:cNvPr id="15" name="Text 12"/>
          <p:cNvSpPr/>
          <p:nvPr/>
        </p:nvSpPr>
        <p:spPr>
          <a:xfrm>
            <a:off x="566928" y="3493008"/>
            <a:ext cx="6858000" cy="1371600"/>
          </a:xfrm>
          <a:prstGeom prst="rect">
            <a:avLst/>
          </a:prstGeom>
          <a:noFill/>
          <a:ln/>
        </p:spPr>
        <p:txBody>
          <a:bodyPr wrap="square" rtlCol="0" anchor="ctr"/>
          <a:lstStyle/>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gira_2020_q1…q4.xlsx, one file per quarter</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gira_2021.csv, the full year and the bridge schema</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gira_2022_s1 / s2.csv, one per semester</a:t>
            </a:r>
            <a:endParaRPr lang="en-US" sz="1200" dirty="0"/>
          </a:p>
          <a:p>
            <a:pPr marL="342900" indent="-342900">
              <a:lnSpc>
                <a:spcPct val="130000"/>
              </a:lnSpc>
              <a:buSzPct val="100000"/>
              <a:buChar char="•"/>
            </a:pPr>
            <a:r>
              <a:rPr lang="en-US" sz="1200" dirty="0">
                <a:solidFill>
                  <a:srgbClr val="FFFFFF"/>
                </a:solidFill>
                <a:latin typeface="Calibri" pitchFamily="34" charset="0"/>
                <a:ea typeface="Calibri" pitchFamily="34" charset="-122"/>
                <a:cs typeface="Calibri" pitchFamily="34" charset="-120"/>
              </a:rPr>
              <a:t>gira_2023_q1.xlsx, Q1 only</a:t>
            </a:r>
            <a:endParaRPr lang="en-US" sz="1200" dirty="0"/>
          </a:p>
        </p:txBody>
      </p:sp>
      <p:sp>
        <p:nvSpPr>
          <p:cNvPr id="16" name="Text 13"/>
          <p:cNvSpPr/>
          <p:nvPr/>
        </p:nvSpPr>
        <p:spPr>
          <a:xfrm>
            <a:off x="566928" y="4956048"/>
            <a:ext cx="4572000" cy="274320"/>
          </a:xfrm>
          <a:prstGeom prst="rect">
            <a:avLst/>
          </a:prstGeom>
          <a:noFill/>
          <a:ln/>
        </p:spPr>
        <p:txBody>
          <a:bodyPr wrap="square" rtlCol="0" anchor="ctr"/>
          <a:lstStyle/>
          <a:p>
            <a:pPr marL="0" indent="0">
              <a:buNone/>
            </a:pPr>
            <a:r>
              <a:rPr lang="en-US" sz="1150" b="1" kern="0" spc="140" dirty="0">
                <a:solidFill>
                  <a:srgbClr val="E930D8"/>
                </a:solidFill>
                <a:latin typeface="Calibri" pitchFamily="34" charset="0"/>
                <a:ea typeface="Calibri" pitchFamily="34" charset="-122"/>
                <a:cs typeface="Calibri" pitchFamily="34" charset="-120"/>
              </a:rPr>
              <a:t>THE SCHEMA CHANGE</a:t>
            </a:r>
            <a:endParaRPr lang="en-US" sz="1150" dirty="0"/>
          </a:p>
        </p:txBody>
      </p:sp>
      <p:sp>
        <p:nvSpPr>
          <p:cNvPr id="17" name="Text 14"/>
          <p:cNvSpPr/>
          <p:nvPr/>
        </p:nvSpPr>
        <p:spPr>
          <a:xfrm>
            <a:off x="566928" y="5248656"/>
            <a:ext cx="6858000" cy="868680"/>
          </a:xfrm>
          <a:prstGeom prst="rect">
            <a:avLst/>
          </a:prstGeom>
          <a:noFill/>
          <a:ln/>
        </p:spPr>
        <p:txBody>
          <a:bodyPr wrap="square" rtlCol="0" anchor="ctr"/>
          <a:lstStyle/>
          <a:p>
            <a:pPr marL="0" indent="0">
              <a:lnSpc>
                <a:spcPct val="122000"/>
              </a:lnSpc>
              <a:buNone/>
            </a:pPr>
            <a:r>
              <a:rPr lang="en-US" sz="1200" dirty="0">
                <a:solidFill>
                  <a:srgbClr val="A9B4D0"/>
                </a:solidFill>
                <a:latin typeface="Calibri" pitchFamily="34" charset="0"/>
                <a:ea typeface="Calibri" pitchFamily="34" charset="-122"/>
                <a:cs typeface="Calibri" pitchFamily="34" charset="-120"/>
              </a:rPr>
              <a:t>2020 tracks numdocasvacias (empty docks) and has no status column. 2022–23 tracks numdocas (total docks) plus estado. 2021 carries both, and it is the file that bridges the two eras.</a:t>
            </a:r>
            <a:endParaRPr lang="en-US" sz="1200" dirty="0"/>
          </a:p>
        </p:txBody>
      </p:sp>
      <p:sp>
        <p:nvSpPr>
          <p:cNvPr id="18" name="Shape 15"/>
          <p:cNvSpPr/>
          <p:nvPr/>
        </p:nvSpPr>
        <p:spPr>
          <a:xfrm>
            <a:off x="7863840" y="2286000"/>
            <a:ext cx="3776472" cy="1207008"/>
          </a:xfrm>
          <a:prstGeom prst="roundRect">
            <a:avLst>
              <a:gd name="adj" fmla="val 4167"/>
            </a:avLst>
          </a:prstGeom>
          <a:solidFill>
            <a:srgbClr val="0E1030">
              <a:alpha val="82000"/>
            </a:srgbClr>
          </a:solidFill>
          <a:ln w="22225">
            <a:solidFill>
              <a:srgbClr val="22D3EE"/>
            </a:solidFill>
            <a:prstDash val="solid"/>
          </a:ln>
        </p:spPr>
        <p:txBody>
          <a:bodyPr/>
          <a:lstStyle/>
          <a:p>
            <a:endParaRPr lang="en-GB"/>
          </a:p>
        </p:txBody>
      </p:sp>
      <p:sp>
        <p:nvSpPr>
          <p:cNvPr id="19" name="Text 16"/>
          <p:cNvSpPr/>
          <p:nvPr/>
        </p:nvSpPr>
        <p:spPr>
          <a:xfrm>
            <a:off x="8138160" y="2404872"/>
            <a:ext cx="3291840" cy="548640"/>
          </a:xfrm>
          <a:prstGeom prst="rect">
            <a:avLst/>
          </a:prstGeom>
          <a:noFill/>
          <a:ln/>
        </p:spPr>
        <p:txBody>
          <a:bodyPr wrap="square" rtlCol="0" anchor="ctr"/>
          <a:lstStyle/>
          <a:p>
            <a:pPr marL="0" indent="0">
              <a:buNone/>
            </a:pPr>
            <a:r>
              <a:rPr lang="en-US" sz="2900" b="1" dirty="0">
                <a:solidFill>
                  <a:srgbClr val="FFFFFF"/>
                </a:solidFill>
                <a:latin typeface="Trebuchet MS" pitchFamily="34" charset="0"/>
                <a:ea typeface="Trebuchet MS" pitchFamily="34" charset="-122"/>
                <a:cs typeface="Trebuchet MS" pitchFamily="34" charset="-120"/>
              </a:rPr>
              <a:t>8</a:t>
            </a:r>
            <a:endParaRPr lang="en-US" sz="2900" dirty="0"/>
          </a:p>
        </p:txBody>
      </p:sp>
      <p:sp>
        <p:nvSpPr>
          <p:cNvPr id="20" name="Text 17"/>
          <p:cNvSpPr/>
          <p:nvPr/>
        </p:nvSpPr>
        <p:spPr>
          <a:xfrm>
            <a:off x="8138160" y="2999232"/>
            <a:ext cx="3291840" cy="365760"/>
          </a:xfrm>
          <a:prstGeom prst="rect">
            <a:avLst/>
          </a:prstGeom>
          <a:noFill/>
          <a:ln/>
        </p:spPr>
        <p:txBody>
          <a:bodyPr wrap="square" rtlCol="0" anchor="ctr"/>
          <a:lstStyle/>
          <a:p>
            <a:pPr marL="0" indent="0">
              <a:buNone/>
            </a:pPr>
            <a:r>
              <a:rPr lang="en-US" sz="1100" dirty="0">
                <a:solidFill>
                  <a:srgbClr val="A9B4D0"/>
                </a:solidFill>
                <a:latin typeface="Calibri" pitchFamily="34" charset="0"/>
                <a:ea typeface="Calibri" pitchFamily="34" charset="-122"/>
                <a:cs typeface="Calibri" pitchFamily="34" charset="-120"/>
              </a:rPr>
              <a:t>raw source files</a:t>
            </a:r>
            <a:endParaRPr lang="en-US" sz="1100" dirty="0"/>
          </a:p>
        </p:txBody>
      </p:sp>
      <p:sp>
        <p:nvSpPr>
          <p:cNvPr id="21" name="Shape 18"/>
          <p:cNvSpPr/>
          <p:nvPr/>
        </p:nvSpPr>
        <p:spPr>
          <a:xfrm>
            <a:off x="7863840" y="3703320"/>
            <a:ext cx="3776472" cy="1207008"/>
          </a:xfrm>
          <a:prstGeom prst="roundRect">
            <a:avLst>
              <a:gd name="adj" fmla="val 4167"/>
            </a:avLst>
          </a:prstGeom>
          <a:solidFill>
            <a:srgbClr val="0E1030">
              <a:alpha val="82000"/>
            </a:srgbClr>
          </a:solidFill>
          <a:ln w="22225">
            <a:solidFill>
              <a:srgbClr val="E930D8"/>
            </a:solidFill>
            <a:prstDash val="solid"/>
          </a:ln>
        </p:spPr>
        <p:txBody>
          <a:bodyPr/>
          <a:lstStyle/>
          <a:p>
            <a:endParaRPr lang="en-GB"/>
          </a:p>
        </p:txBody>
      </p:sp>
      <p:sp>
        <p:nvSpPr>
          <p:cNvPr id="22" name="Text 19"/>
          <p:cNvSpPr/>
          <p:nvPr/>
        </p:nvSpPr>
        <p:spPr>
          <a:xfrm>
            <a:off x="8138160" y="3822192"/>
            <a:ext cx="3291840" cy="548640"/>
          </a:xfrm>
          <a:prstGeom prst="rect">
            <a:avLst/>
          </a:prstGeom>
          <a:noFill/>
          <a:ln/>
        </p:spPr>
        <p:txBody>
          <a:bodyPr wrap="square" rtlCol="0" anchor="ctr"/>
          <a:lstStyle/>
          <a:p>
            <a:pPr marL="0" indent="0">
              <a:buNone/>
            </a:pPr>
            <a:r>
              <a:rPr lang="en-US" sz="2900" b="1" dirty="0">
                <a:solidFill>
                  <a:srgbClr val="FFFFFF"/>
                </a:solidFill>
                <a:latin typeface="Trebuchet MS" pitchFamily="34" charset="0"/>
                <a:ea typeface="Trebuchet MS" pitchFamily="34" charset="-122"/>
                <a:cs typeface="Trebuchet MS" pitchFamily="34" charset="-120"/>
              </a:rPr>
              <a:t>7.49M</a:t>
            </a:r>
            <a:endParaRPr lang="en-US" sz="2900" dirty="0"/>
          </a:p>
        </p:txBody>
      </p:sp>
      <p:sp>
        <p:nvSpPr>
          <p:cNvPr id="23" name="Text 20"/>
          <p:cNvSpPr/>
          <p:nvPr/>
        </p:nvSpPr>
        <p:spPr>
          <a:xfrm>
            <a:off x="8138160" y="4416552"/>
            <a:ext cx="3291840" cy="365760"/>
          </a:xfrm>
          <a:prstGeom prst="rect">
            <a:avLst/>
          </a:prstGeom>
          <a:noFill/>
          <a:ln/>
        </p:spPr>
        <p:txBody>
          <a:bodyPr wrap="square" rtlCol="0" anchor="ctr"/>
          <a:lstStyle/>
          <a:p>
            <a:pPr marL="0" indent="0">
              <a:buNone/>
            </a:pPr>
            <a:r>
              <a:rPr lang="en-US" sz="1100" dirty="0">
                <a:solidFill>
                  <a:srgbClr val="A9B4D0"/>
                </a:solidFill>
                <a:latin typeface="Calibri" pitchFamily="34" charset="0"/>
                <a:ea typeface="Calibri" pitchFamily="34" charset="-122"/>
                <a:cs typeface="Calibri" pitchFamily="34" charset="-120"/>
              </a:rPr>
              <a:t>raw snapshot rows</a:t>
            </a:r>
            <a:endParaRPr lang="en-US" sz="1100" dirty="0"/>
          </a:p>
        </p:txBody>
      </p:sp>
      <p:sp>
        <p:nvSpPr>
          <p:cNvPr id="24" name="Shape 21"/>
          <p:cNvSpPr/>
          <p:nvPr/>
        </p:nvSpPr>
        <p:spPr>
          <a:xfrm>
            <a:off x="7863840" y="5120640"/>
            <a:ext cx="3776472" cy="1207008"/>
          </a:xfrm>
          <a:prstGeom prst="roundRect">
            <a:avLst>
              <a:gd name="adj" fmla="val 4167"/>
            </a:avLst>
          </a:prstGeom>
          <a:solidFill>
            <a:srgbClr val="0E1030">
              <a:alpha val="82000"/>
            </a:srgbClr>
          </a:solidFill>
          <a:ln w="22225">
            <a:solidFill>
              <a:srgbClr val="7B2FF7"/>
            </a:solidFill>
            <a:prstDash val="solid"/>
          </a:ln>
        </p:spPr>
        <p:txBody>
          <a:bodyPr/>
          <a:lstStyle/>
          <a:p>
            <a:endParaRPr lang="en-GB"/>
          </a:p>
        </p:txBody>
      </p:sp>
      <p:sp>
        <p:nvSpPr>
          <p:cNvPr id="25" name="Text 22"/>
          <p:cNvSpPr/>
          <p:nvPr/>
        </p:nvSpPr>
        <p:spPr>
          <a:xfrm>
            <a:off x="8138160" y="5239512"/>
            <a:ext cx="3291840" cy="548640"/>
          </a:xfrm>
          <a:prstGeom prst="rect">
            <a:avLst/>
          </a:prstGeom>
          <a:noFill/>
          <a:ln/>
        </p:spPr>
        <p:txBody>
          <a:bodyPr wrap="square" rtlCol="0" anchor="ctr"/>
          <a:lstStyle/>
          <a:p>
            <a:pPr marL="0" indent="0">
              <a:buNone/>
            </a:pPr>
            <a:r>
              <a:rPr lang="en-US" sz="2900" b="1" dirty="0">
                <a:solidFill>
                  <a:srgbClr val="FFFFFF"/>
                </a:solidFill>
                <a:latin typeface="Trebuchet MS" pitchFamily="34" charset="0"/>
                <a:ea typeface="Trebuchet MS" pitchFamily="34" charset="-122"/>
                <a:cs typeface="Trebuchet MS" pitchFamily="34" charset="-120"/>
              </a:rPr>
              <a:t>149</a:t>
            </a:r>
            <a:endParaRPr lang="en-US" sz="2900" dirty="0"/>
          </a:p>
        </p:txBody>
      </p:sp>
      <p:sp>
        <p:nvSpPr>
          <p:cNvPr id="26" name="Text 23"/>
          <p:cNvSpPr/>
          <p:nvPr/>
        </p:nvSpPr>
        <p:spPr>
          <a:xfrm>
            <a:off x="8138160" y="5833872"/>
            <a:ext cx="3291840" cy="365760"/>
          </a:xfrm>
          <a:prstGeom prst="rect">
            <a:avLst/>
          </a:prstGeom>
          <a:noFill/>
          <a:ln/>
        </p:spPr>
        <p:txBody>
          <a:bodyPr wrap="square" rtlCol="0" anchor="ctr"/>
          <a:lstStyle/>
          <a:p>
            <a:pPr marL="0" indent="0">
              <a:buNone/>
            </a:pPr>
            <a:r>
              <a:rPr lang="en-US" sz="1100" dirty="0">
                <a:solidFill>
                  <a:srgbClr val="A9B4D0"/>
                </a:solidFill>
                <a:latin typeface="Calibri" pitchFamily="34" charset="0"/>
                <a:ea typeface="Calibri" pitchFamily="34" charset="-122"/>
                <a:cs typeface="Calibri" pitchFamily="34" charset="-120"/>
              </a:rPr>
              <a:t>distinct stations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05</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CLEANING · PART 2</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7.49M raw rows → 4.09M trustworthy rows</a:t>
            </a:r>
            <a:endParaRPr lang="en-US" sz="3400" dirty="0"/>
          </a:p>
        </p:txBody>
      </p:sp>
      <p:sp>
        <p:nvSpPr>
          <p:cNvPr id="13" name="Text 10"/>
          <p:cNvSpPr/>
          <p:nvPr/>
        </p:nvSpPr>
        <p:spPr>
          <a:xfrm>
            <a:off x="566928" y="2267712"/>
            <a:ext cx="11064240" cy="640080"/>
          </a:xfrm>
          <a:prstGeom prst="rect">
            <a:avLst/>
          </a:prstGeom>
          <a:noFill/>
          <a:ln/>
        </p:spPr>
        <p:txBody>
          <a:bodyPr wrap="square" rtlCol="0" anchor="ctr"/>
          <a:lstStyle/>
          <a:p>
            <a:pPr marL="0" indent="0">
              <a:lnSpc>
                <a:spcPct val="120000"/>
              </a:lnSpc>
              <a:buNone/>
            </a:pPr>
            <a:r>
              <a:rPr lang="en-US" sz="1250" dirty="0">
                <a:solidFill>
                  <a:srgbClr val="A9B4D0"/>
                </a:solidFill>
                <a:latin typeface="Calibri" pitchFamily="34" charset="0"/>
                <a:ea typeface="Calibri" pitchFamily="34" charset="-122"/>
                <a:cs typeface="Calibri" pitchFamily="34" charset="-120"/>
              </a:rPr>
              <a:t>Nearly half the rows were removed, but almost none of it was a data-quality failure. Fixed-interval logging rewrites the same station state over and over; removing those duplicates is structural, not corrective.</a:t>
            </a:r>
            <a:endParaRPr lang="en-US" sz="1250" dirty="0"/>
          </a:p>
        </p:txBody>
      </p:sp>
      <p:sp>
        <p:nvSpPr>
          <p:cNvPr id="14" name="Shape 11"/>
          <p:cNvSpPr/>
          <p:nvPr/>
        </p:nvSpPr>
        <p:spPr>
          <a:xfrm>
            <a:off x="566928" y="3108960"/>
            <a:ext cx="3456432" cy="2148840"/>
          </a:xfrm>
          <a:prstGeom prst="roundRect">
            <a:avLst>
              <a:gd name="adj" fmla="val 2340"/>
            </a:avLst>
          </a:prstGeom>
          <a:solidFill>
            <a:srgbClr val="0E1030">
              <a:alpha val="82000"/>
            </a:srgbClr>
          </a:solidFill>
          <a:ln w="22225">
            <a:solidFill>
              <a:srgbClr val="22D3EE"/>
            </a:solidFill>
            <a:prstDash val="solid"/>
          </a:ln>
        </p:spPr>
        <p:txBody>
          <a:bodyPr/>
          <a:lstStyle/>
          <a:p>
            <a:endParaRPr lang="en-GB"/>
          </a:p>
        </p:txBody>
      </p:sp>
      <p:sp>
        <p:nvSpPr>
          <p:cNvPr id="15" name="Text 12"/>
          <p:cNvSpPr/>
          <p:nvPr/>
        </p:nvSpPr>
        <p:spPr>
          <a:xfrm>
            <a:off x="822960" y="3310128"/>
            <a:ext cx="2971800" cy="548640"/>
          </a:xfrm>
          <a:prstGeom prst="rect">
            <a:avLst/>
          </a:prstGeom>
          <a:noFill/>
          <a:ln/>
        </p:spPr>
        <p:txBody>
          <a:bodyPr wrap="square" rtlCol="0" anchor="ctr"/>
          <a:lstStyle/>
          <a:p>
            <a:pPr marL="0" indent="0">
              <a:buNone/>
            </a:pPr>
            <a:r>
              <a:rPr lang="en-US" sz="2500" b="1" dirty="0">
                <a:solidFill>
                  <a:srgbClr val="22D3EE"/>
                </a:solidFill>
                <a:latin typeface="Trebuchet MS" pitchFamily="34" charset="0"/>
                <a:ea typeface="Trebuchet MS" pitchFamily="34" charset="-122"/>
                <a:cs typeface="Trebuchet MS" pitchFamily="34" charset="-120"/>
              </a:rPr>
              <a:t>7,490,542</a:t>
            </a:r>
            <a:endParaRPr lang="en-US" sz="2500" dirty="0"/>
          </a:p>
        </p:txBody>
      </p:sp>
      <p:sp>
        <p:nvSpPr>
          <p:cNvPr id="16" name="Text 13"/>
          <p:cNvSpPr/>
          <p:nvPr/>
        </p:nvSpPr>
        <p:spPr>
          <a:xfrm>
            <a:off x="822960" y="3877056"/>
            <a:ext cx="297180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Raw rows loaded</a:t>
            </a:r>
            <a:endParaRPr lang="en-US" sz="1250" dirty="0"/>
          </a:p>
        </p:txBody>
      </p:sp>
      <p:sp>
        <p:nvSpPr>
          <p:cNvPr id="17" name="Text 14"/>
          <p:cNvSpPr/>
          <p:nvPr/>
        </p:nvSpPr>
        <p:spPr>
          <a:xfrm>
            <a:off x="822960" y="4334256"/>
            <a:ext cx="2971800" cy="777240"/>
          </a:xfrm>
          <a:prstGeom prst="rect">
            <a:avLst/>
          </a:prstGeom>
          <a:noFill/>
          <a:ln/>
        </p:spPr>
        <p:txBody>
          <a:bodyPr wrap="square" rtlCol="0" anchor="ctr"/>
          <a:lstStyle/>
          <a:p>
            <a:pPr marL="0" indent="0">
              <a:lnSpc>
                <a:spcPct val="118000"/>
              </a:lnSpc>
              <a:buNone/>
            </a:pPr>
            <a:r>
              <a:rPr lang="en-US" sz="1050" dirty="0">
                <a:solidFill>
                  <a:srgbClr val="A9B4D0"/>
                </a:solidFill>
                <a:latin typeface="Calibri" pitchFamily="34" charset="0"/>
                <a:ea typeface="Calibri" pitchFamily="34" charset="-122"/>
                <a:cs typeface="Calibri" pitchFamily="34" charset="-120"/>
              </a:rPr>
              <a:t>8 files concatenated after schema harmonization</a:t>
            </a:r>
            <a:endParaRPr lang="en-US" sz="1050" dirty="0"/>
          </a:p>
        </p:txBody>
      </p:sp>
      <p:sp>
        <p:nvSpPr>
          <p:cNvPr id="18" name="Text 15"/>
          <p:cNvSpPr/>
          <p:nvPr/>
        </p:nvSpPr>
        <p:spPr>
          <a:xfrm>
            <a:off x="4023360" y="3913632"/>
            <a:ext cx="292608" cy="457200"/>
          </a:xfrm>
          <a:prstGeom prst="rect">
            <a:avLst/>
          </a:prstGeom>
          <a:noFill/>
          <a:ln/>
        </p:spPr>
        <p:txBody>
          <a:bodyPr wrap="square" rtlCol="0" anchor="ctr"/>
          <a:lstStyle/>
          <a:p>
            <a:pPr marL="0" indent="0" algn="ctr">
              <a:buNone/>
            </a:pPr>
            <a:r>
              <a:rPr lang="en-US" sz="2000" dirty="0">
                <a:solidFill>
                  <a:srgbClr val="6F7BA0"/>
                </a:solidFill>
                <a:latin typeface="Calibri" pitchFamily="34" charset="0"/>
                <a:ea typeface="Calibri" pitchFamily="34" charset="-122"/>
                <a:cs typeface="Calibri" pitchFamily="34" charset="-120"/>
              </a:rPr>
              <a:t>→</a:t>
            </a:r>
            <a:endParaRPr lang="en-US" sz="2000" dirty="0"/>
          </a:p>
        </p:txBody>
      </p:sp>
      <p:sp>
        <p:nvSpPr>
          <p:cNvPr id="19" name="Shape 16"/>
          <p:cNvSpPr/>
          <p:nvPr/>
        </p:nvSpPr>
        <p:spPr>
          <a:xfrm>
            <a:off x="4315968" y="3108960"/>
            <a:ext cx="3456432" cy="2148840"/>
          </a:xfrm>
          <a:prstGeom prst="roundRect">
            <a:avLst>
              <a:gd name="adj" fmla="val 2340"/>
            </a:avLst>
          </a:prstGeom>
          <a:solidFill>
            <a:srgbClr val="0E1030">
              <a:alpha val="82000"/>
            </a:srgbClr>
          </a:solidFill>
          <a:ln w="22225">
            <a:solidFill>
              <a:srgbClr val="7B2FF7"/>
            </a:solidFill>
            <a:prstDash val="solid"/>
          </a:ln>
        </p:spPr>
        <p:txBody>
          <a:bodyPr/>
          <a:lstStyle/>
          <a:p>
            <a:endParaRPr lang="en-GB"/>
          </a:p>
        </p:txBody>
      </p:sp>
      <p:sp>
        <p:nvSpPr>
          <p:cNvPr id="20" name="Text 17"/>
          <p:cNvSpPr/>
          <p:nvPr/>
        </p:nvSpPr>
        <p:spPr>
          <a:xfrm>
            <a:off x="4572000" y="3310128"/>
            <a:ext cx="2971800" cy="548640"/>
          </a:xfrm>
          <a:prstGeom prst="rect">
            <a:avLst/>
          </a:prstGeom>
          <a:noFill/>
          <a:ln/>
        </p:spPr>
        <p:txBody>
          <a:bodyPr wrap="square" rtlCol="0" anchor="ctr"/>
          <a:lstStyle/>
          <a:p>
            <a:pPr marL="0" indent="0">
              <a:buNone/>
            </a:pPr>
            <a:r>
              <a:rPr lang="en-US" sz="2500" b="1" dirty="0">
                <a:solidFill>
                  <a:srgbClr val="7B2FF7"/>
                </a:solidFill>
                <a:latin typeface="Trebuchet MS" pitchFamily="34" charset="0"/>
                <a:ea typeface="Trebuchet MS" pitchFamily="34" charset="-122"/>
                <a:cs typeface="Trebuchet MS" pitchFamily="34" charset="-120"/>
              </a:rPr>
              <a:t>4,091,980</a:t>
            </a:r>
            <a:endParaRPr lang="en-US" sz="2500" dirty="0"/>
          </a:p>
        </p:txBody>
      </p:sp>
      <p:sp>
        <p:nvSpPr>
          <p:cNvPr id="21" name="Text 18"/>
          <p:cNvSpPr/>
          <p:nvPr/>
        </p:nvSpPr>
        <p:spPr>
          <a:xfrm>
            <a:off x="4572000" y="3877056"/>
            <a:ext cx="297180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Pass 1: exact duplicates</a:t>
            </a:r>
            <a:endParaRPr lang="en-US" sz="1250" dirty="0"/>
          </a:p>
        </p:txBody>
      </p:sp>
      <p:sp>
        <p:nvSpPr>
          <p:cNvPr id="22" name="Text 19"/>
          <p:cNvSpPr/>
          <p:nvPr/>
        </p:nvSpPr>
        <p:spPr>
          <a:xfrm>
            <a:off x="4572000" y="4334256"/>
            <a:ext cx="2971800" cy="777240"/>
          </a:xfrm>
          <a:prstGeom prst="rect">
            <a:avLst/>
          </a:prstGeom>
          <a:noFill/>
          <a:ln/>
        </p:spPr>
        <p:txBody>
          <a:bodyPr wrap="square" rtlCol="0" anchor="ctr"/>
          <a:lstStyle/>
          <a:p>
            <a:pPr marL="0" indent="0">
              <a:lnSpc>
                <a:spcPct val="118000"/>
              </a:lnSpc>
              <a:buNone/>
            </a:pPr>
            <a:r>
              <a:rPr lang="en-US" sz="1050" dirty="0">
                <a:solidFill>
                  <a:srgbClr val="A9B4D0"/>
                </a:solidFill>
                <a:latin typeface="Calibri" pitchFamily="34" charset="0"/>
                <a:ea typeface="Calibri" pitchFamily="34" charset="-122"/>
                <a:cs typeface="Calibri" pitchFamily="34" charset="-120"/>
              </a:rPr>
              <a:t>3,398,561 fully identical rows dropped (45.4%)</a:t>
            </a:r>
            <a:endParaRPr lang="en-US" sz="1050" dirty="0"/>
          </a:p>
        </p:txBody>
      </p:sp>
      <p:sp>
        <p:nvSpPr>
          <p:cNvPr id="23" name="Text 20"/>
          <p:cNvSpPr/>
          <p:nvPr/>
        </p:nvSpPr>
        <p:spPr>
          <a:xfrm>
            <a:off x="7772400" y="3913632"/>
            <a:ext cx="292608" cy="457200"/>
          </a:xfrm>
          <a:prstGeom prst="rect">
            <a:avLst/>
          </a:prstGeom>
          <a:noFill/>
          <a:ln/>
        </p:spPr>
        <p:txBody>
          <a:bodyPr wrap="square" rtlCol="0" anchor="ctr"/>
          <a:lstStyle/>
          <a:p>
            <a:pPr marL="0" indent="0" algn="ctr">
              <a:buNone/>
            </a:pPr>
            <a:r>
              <a:rPr lang="en-US" sz="2000" dirty="0">
                <a:solidFill>
                  <a:srgbClr val="6F7BA0"/>
                </a:solidFill>
                <a:latin typeface="Calibri" pitchFamily="34" charset="0"/>
                <a:ea typeface="Calibri" pitchFamily="34" charset="-122"/>
                <a:cs typeface="Calibri" pitchFamily="34" charset="-120"/>
              </a:rPr>
              <a:t>→</a:t>
            </a:r>
            <a:endParaRPr lang="en-US" sz="2000" dirty="0"/>
          </a:p>
        </p:txBody>
      </p:sp>
      <p:sp>
        <p:nvSpPr>
          <p:cNvPr id="24" name="Shape 21"/>
          <p:cNvSpPr/>
          <p:nvPr/>
        </p:nvSpPr>
        <p:spPr>
          <a:xfrm>
            <a:off x="8065008" y="3108960"/>
            <a:ext cx="3456432" cy="2148840"/>
          </a:xfrm>
          <a:prstGeom prst="roundRect">
            <a:avLst>
              <a:gd name="adj" fmla="val 2340"/>
            </a:avLst>
          </a:prstGeom>
          <a:solidFill>
            <a:srgbClr val="0E1030">
              <a:alpha val="82000"/>
            </a:srgbClr>
          </a:solidFill>
          <a:ln w="22225">
            <a:solidFill>
              <a:srgbClr val="E930D8"/>
            </a:solidFill>
            <a:prstDash val="solid"/>
          </a:ln>
        </p:spPr>
        <p:txBody>
          <a:bodyPr/>
          <a:lstStyle/>
          <a:p>
            <a:endParaRPr lang="en-GB"/>
          </a:p>
        </p:txBody>
      </p:sp>
      <p:sp>
        <p:nvSpPr>
          <p:cNvPr id="25" name="Text 22"/>
          <p:cNvSpPr/>
          <p:nvPr/>
        </p:nvSpPr>
        <p:spPr>
          <a:xfrm>
            <a:off x="8321040" y="3310128"/>
            <a:ext cx="2971800" cy="548640"/>
          </a:xfrm>
          <a:prstGeom prst="rect">
            <a:avLst/>
          </a:prstGeom>
          <a:noFill/>
          <a:ln/>
        </p:spPr>
        <p:txBody>
          <a:bodyPr wrap="square" rtlCol="0" anchor="ctr"/>
          <a:lstStyle/>
          <a:p>
            <a:pPr marL="0" indent="0">
              <a:buNone/>
            </a:pPr>
            <a:r>
              <a:rPr lang="en-US" sz="2500" b="1" dirty="0">
                <a:solidFill>
                  <a:srgbClr val="E930D8"/>
                </a:solidFill>
                <a:latin typeface="Trebuchet MS" pitchFamily="34" charset="0"/>
                <a:ea typeface="Trebuchet MS" pitchFamily="34" charset="-122"/>
                <a:cs typeface="Trebuchet MS" pitchFamily="34" charset="-120"/>
              </a:rPr>
              <a:t>4,090,179</a:t>
            </a:r>
            <a:endParaRPr lang="en-US" sz="2500" dirty="0"/>
          </a:p>
        </p:txBody>
      </p:sp>
      <p:sp>
        <p:nvSpPr>
          <p:cNvPr id="26" name="Text 23"/>
          <p:cNvSpPr/>
          <p:nvPr/>
        </p:nvSpPr>
        <p:spPr>
          <a:xfrm>
            <a:off x="8321040" y="3877056"/>
            <a:ext cx="2971800" cy="45720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Pass 2: station + timestamp</a:t>
            </a:r>
            <a:endParaRPr lang="en-US" sz="1250" dirty="0"/>
          </a:p>
        </p:txBody>
      </p:sp>
      <p:sp>
        <p:nvSpPr>
          <p:cNvPr id="27" name="Text 24"/>
          <p:cNvSpPr/>
          <p:nvPr/>
        </p:nvSpPr>
        <p:spPr>
          <a:xfrm>
            <a:off x="8321040" y="4334256"/>
            <a:ext cx="2971800" cy="777240"/>
          </a:xfrm>
          <a:prstGeom prst="rect">
            <a:avLst/>
          </a:prstGeom>
          <a:noFill/>
          <a:ln/>
        </p:spPr>
        <p:txBody>
          <a:bodyPr wrap="square" rtlCol="0" anchor="ctr"/>
          <a:lstStyle/>
          <a:p>
            <a:pPr marL="0" indent="0">
              <a:lnSpc>
                <a:spcPct val="118000"/>
              </a:lnSpc>
              <a:buNone/>
            </a:pPr>
            <a:r>
              <a:rPr lang="en-US" sz="1050" dirty="0">
                <a:solidFill>
                  <a:srgbClr val="A9B4D0"/>
                </a:solidFill>
                <a:latin typeface="Calibri" pitchFamily="34" charset="0"/>
                <a:ea typeface="Calibri" pitchFamily="34" charset="-122"/>
                <a:cs typeface="Calibri" pitchFamily="34" charset="-120"/>
              </a:rPr>
              <a:t>1,801 further rows dropped, keeping the first</a:t>
            </a:r>
            <a:endParaRPr lang="en-US" sz="1050" dirty="0"/>
          </a:p>
        </p:txBody>
      </p:sp>
      <p:pic>
        <p:nvPicPr>
          <p:cNvPr id="28" name="Image 1" descr="assets/icon_bike_7B2FF7.png"/>
          <p:cNvPicPr>
            <a:picLocks noChangeAspect="1"/>
          </p:cNvPicPr>
          <p:nvPr/>
        </p:nvPicPr>
        <p:blipFill>
          <a:blip r:embed="rId4"/>
          <a:stretch>
            <a:fillRect/>
          </a:stretch>
        </p:blipFill>
        <p:spPr>
          <a:xfrm>
            <a:off x="11137392" y="5422392"/>
            <a:ext cx="384048" cy="384048"/>
          </a:xfrm>
          <a:prstGeom prst="rect">
            <a:avLst/>
          </a:prstGeom>
        </p:spPr>
      </p:pic>
      <p:sp>
        <p:nvSpPr>
          <p:cNvPr id="29" name="Text 25"/>
          <p:cNvSpPr/>
          <p:nvPr/>
        </p:nvSpPr>
        <p:spPr>
          <a:xfrm>
            <a:off x="566928" y="5440680"/>
            <a:ext cx="11064240" cy="365760"/>
          </a:xfrm>
          <a:prstGeom prst="rect">
            <a:avLst/>
          </a:prstGeom>
          <a:noFill/>
          <a:ln/>
        </p:spPr>
        <p:txBody>
          <a:bodyPr wrap="square" rtlCol="0" anchor="ctr"/>
          <a:lstStyle/>
          <a:p>
            <a:pPr marL="0" indent="0">
              <a:buNone/>
            </a:pPr>
            <a:r>
              <a:rPr lang="en-US" sz="1150" i="1" dirty="0">
                <a:solidFill>
                  <a:srgbClr val="6F7BA0"/>
                </a:solidFill>
                <a:latin typeface="Calibri" pitchFamily="34" charset="0"/>
                <a:ea typeface="Calibri" pitchFamily="34" charset="-122"/>
                <a:cs typeface="Calibri" pitchFamily="34" charset="-120"/>
              </a:rPr>
              <a:t>Final: 4,090,179 rows retained · 45.4% removed as duplicates, 0% as data loss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06</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CLEANING · PART 2</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Bridging two schemas without losing information</a:t>
            </a:r>
            <a:endParaRPr lang="en-US" sz="3400" dirty="0"/>
          </a:p>
        </p:txBody>
      </p:sp>
      <p:sp>
        <p:nvSpPr>
          <p:cNvPr id="13" name="Shape 10"/>
          <p:cNvSpPr/>
          <p:nvPr/>
        </p:nvSpPr>
        <p:spPr>
          <a:xfrm>
            <a:off x="566928" y="2286000"/>
            <a:ext cx="438912" cy="438912"/>
          </a:xfrm>
          <a:prstGeom prst="ellipse">
            <a:avLst/>
          </a:prstGeom>
          <a:solidFill>
            <a:srgbClr val="0A0A18"/>
          </a:solidFill>
          <a:ln/>
        </p:spPr>
        <p:txBody>
          <a:bodyPr/>
          <a:lstStyle/>
          <a:p>
            <a:endParaRPr lang="en-GB"/>
          </a:p>
        </p:txBody>
      </p:sp>
      <p:pic>
        <p:nvPicPr>
          <p:cNvPr id="14" name="Image 1" descr="assets/icon_check_22D3EE.png"/>
          <p:cNvPicPr>
            <a:picLocks noChangeAspect="1"/>
          </p:cNvPicPr>
          <p:nvPr/>
        </p:nvPicPr>
        <p:blipFill>
          <a:blip r:embed="rId4"/>
          <a:stretch>
            <a:fillRect/>
          </a:stretch>
        </p:blipFill>
        <p:spPr>
          <a:xfrm>
            <a:off x="685434" y="2404506"/>
            <a:ext cx="201900" cy="201900"/>
          </a:xfrm>
          <a:prstGeom prst="rect">
            <a:avLst/>
          </a:prstGeom>
        </p:spPr>
      </p:pic>
      <p:sp>
        <p:nvSpPr>
          <p:cNvPr id="15" name="Shape 11"/>
          <p:cNvSpPr/>
          <p:nvPr/>
        </p:nvSpPr>
        <p:spPr>
          <a:xfrm>
            <a:off x="566928" y="2286000"/>
            <a:ext cx="438912" cy="438912"/>
          </a:xfrm>
          <a:prstGeom prst="ellipse">
            <a:avLst/>
          </a:prstGeom>
          <a:solidFill>
            <a:srgbClr val="0A0A18">
              <a:alpha val="0"/>
            </a:srgbClr>
          </a:solidFill>
          <a:ln w="19050">
            <a:solidFill>
              <a:srgbClr val="22D3EE"/>
            </a:solidFill>
            <a:prstDash val="solid"/>
          </a:ln>
        </p:spPr>
        <p:txBody>
          <a:bodyPr/>
          <a:lstStyle/>
          <a:p>
            <a:endParaRPr lang="en-GB"/>
          </a:p>
        </p:txBody>
      </p:sp>
      <p:sp>
        <p:nvSpPr>
          <p:cNvPr id="16" name="Text 12"/>
          <p:cNvSpPr/>
          <p:nvPr/>
        </p:nvSpPr>
        <p:spPr>
          <a:xfrm>
            <a:off x="1207008" y="2258568"/>
            <a:ext cx="10241280" cy="2743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Validating the bridge</a:t>
            </a:r>
            <a:endParaRPr lang="en-US" sz="1350" dirty="0"/>
          </a:p>
        </p:txBody>
      </p:sp>
      <p:sp>
        <p:nvSpPr>
          <p:cNvPr id="17" name="Text 13"/>
          <p:cNvSpPr/>
          <p:nvPr/>
        </p:nvSpPr>
        <p:spPr>
          <a:xfrm>
            <a:off x="1207008" y="2532888"/>
            <a:ext cx="10332720" cy="658368"/>
          </a:xfrm>
          <a:prstGeom prst="rect">
            <a:avLst/>
          </a:prstGeom>
          <a:noFill/>
          <a:ln/>
        </p:spPr>
        <p:txBody>
          <a:bodyPr wrap="square" rtlCol="0" anchor="ctr"/>
          <a:lstStyle/>
          <a:p>
            <a:pPr marL="0" indent="0">
              <a:lnSpc>
                <a:spcPct val="114000"/>
              </a:lnSpc>
              <a:buNone/>
            </a:pPr>
            <a:r>
              <a:rPr lang="en-US" sz="1100" dirty="0">
                <a:solidFill>
                  <a:srgbClr val="A9B4D0"/>
                </a:solidFill>
                <a:latin typeface="Calibri" pitchFamily="34" charset="0"/>
                <a:ea typeface="Calibri" pitchFamily="34" charset="-122"/>
                <a:cs typeface="Calibri" pitchFamily="34" charset="-120"/>
              </a:rPr>
              <a:t>The 2021 file carries both dock columns, so bikes + empty docks = total docks could be tested directly. It held on 100% of 2021 rows, which is what licenses every harmonization formula built on it.</a:t>
            </a:r>
            <a:endParaRPr lang="en-US" sz="1100" dirty="0"/>
          </a:p>
        </p:txBody>
      </p:sp>
      <p:sp>
        <p:nvSpPr>
          <p:cNvPr id="18" name="Shape 14"/>
          <p:cNvSpPr/>
          <p:nvPr/>
        </p:nvSpPr>
        <p:spPr>
          <a:xfrm>
            <a:off x="566928" y="3328416"/>
            <a:ext cx="438912" cy="438912"/>
          </a:xfrm>
          <a:prstGeom prst="ellipse">
            <a:avLst/>
          </a:prstGeom>
          <a:solidFill>
            <a:srgbClr val="0A0A18"/>
          </a:solidFill>
          <a:ln/>
        </p:spPr>
        <p:txBody>
          <a:bodyPr/>
          <a:lstStyle/>
          <a:p>
            <a:endParaRPr lang="en-GB"/>
          </a:p>
        </p:txBody>
      </p:sp>
      <p:pic>
        <p:nvPicPr>
          <p:cNvPr id="19" name="Image 2" descr="assets/icon_layers_E930D8.png"/>
          <p:cNvPicPr>
            <a:picLocks noChangeAspect="1"/>
          </p:cNvPicPr>
          <p:nvPr/>
        </p:nvPicPr>
        <p:blipFill>
          <a:blip r:embed="rId5"/>
          <a:stretch>
            <a:fillRect/>
          </a:stretch>
        </p:blipFill>
        <p:spPr>
          <a:xfrm>
            <a:off x="685434" y="3446922"/>
            <a:ext cx="201900" cy="201900"/>
          </a:xfrm>
          <a:prstGeom prst="rect">
            <a:avLst/>
          </a:prstGeom>
        </p:spPr>
      </p:pic>
      <p:sp>
        <p:nvSpPr>
          <p:cNvPr id="20" name="Shape 15"/>
          <p:cNvSpPr/>
          <p:nvPr/>
        </p:nvSpPr>
        <p:spPr>
          <a:xfrm>
            <a:off x="566928" y="3328416"/>
            <a:ext cx="438912" cy="438912"/>
          </a:xfrm>
          <a:prstGeom prst="ellipse">
            <a:avLst/>
          </a:prstGeom>
          <a:solidFill>
            <a:srgbClr val="0A0A18">
              <a:alpha val="0"/>
            </a:srgbClr>
          </a:solidFill>
          <a:ln w="19050">
            <a:solidFill>
              <a:srgbClr val="E930D8"/>
            </a:solidFill>
            <a:prstDash val="solid"/>
          </a:ln>
        </p:spPr>
        <p:txBody>
          <a:bodyPr/>
          <a:lstStyle/>
          <a:p>
            <a:endParaRPr lang="en-GB"/>
          </a:p>
        </p:txBody>
      </p:sp>
      <p:sp>
        <p:nvSpPr>
          <p:cNvPr id="21" name="Text 16"/>
          <p:cNvSpPr/>
          <p:nvPr/>
        </p:nvSpPr>
        <p:spPr>
          <a:xfrm>
            <a:off x="1207008" y="3300984"/>
            <a:ext cx="10241280" cy="2743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Filling the gaps both ways</a:t>
            </a:r>
            <a:endParaRPr lang="en-US" sz="1350" dirty="0"/>
          </a:p>
        </p:txBody>
      </p:sp>
      <p:sp>
        <p:nvSpPr>
          <p:cNvPr id="22" name="Text 17"/>
          <p:cNvSpPr/>
          <p:nvPr/>
        </p:nvSpPr>
        <p:spPr>
          <a:xfrm>
            <a:off x="1207008" y="3575304"/>
            <a:ext cx="10332720" cy="658368"/>
          </a:xfrm>
          <a:prstGeom prst="rect">
            <a:avLst/>
          </a:prstGeom>
          <a:noFill/>
          <a:ln/>
        </p:spPr>
        <p:txBody>
          <a:bodyPr wrap="square" rtlCol="0" anchor="ctr"/>
          <a:lstStyle/>
          <a:p>
            <a:pPr marL="0" indent="0">
              <a:lnSpc>
                <a:spcPct val="114000"/>
              </a:lnSpc>
              <a:buNone/>
            </a:pPr>
            <a:r>
              <a:rPr lang="en-US" sz="1100" dirty="0">
                <a:solidFill>
                  <a:srgbClr val="A9B4D0"/>
                </a:solidFill>
                <a:latin typeface="Calibri" pitchFamily="34" charset="0"/>
                <a:ea typeface="Calibri" pitchFamily="34" charset="-122"/>
                <a:cs typeface="Calibri" pitchFamily="34" charset="-120"/>
              </a:rPr>
              <a:t>2020: numdocas derived as bikes + empty docks, with an empty estado added. 2022–23: numdocasvacias derived as total docks − bikes. Every file ends with identical columns.</a:t>
            </a:r>
            <a:endParaRPr lang="en-US" sz="1100" dirty="0"/>
          </a:p>
        </p:txBody>
      </p:sp>
      <p:sp>
        <p:nvSpPr>
          <p:cNvPr id="23" name="Shape 18"/>
          <p:cNvSpPr/>
          <p:nvPr/>
        </p:nvSpPr>
        <p:spPr>
          <a:xfrm>
            <a:off x="566928" y="4370832"/>
            <a:ext cx="438912" cy="438912"/>
          </a:xfrm>
          <a:prstGeom prst="ellipse">
            <a:avLst/>
          </a:prstGeom>
          <a:solidFill>
            <a:srgbClr val="0A0A18"/>
          </a:solidFill>
          <a:ln/>
        </p:spPr>
        <p:txBody>
          <a:bodyPr/>
          <a:lstStyle/>
          <a:p>
            <a:endParaRPr lang="en-GB"/>
          </a:p>
        </p:txBody>
      </p:sp>
      <p:pic>
        <p:nvPicPr>
          <p:cNvPr id="24" name="Image 3" descr="assets/icon_clock_7B2FF7.png"/>
          <p:cNvPicPr>
            <a:picLocks noChangeAspect="1"/>
          </p:cNvPicPr>
          <p:nvPr/>
        </p:nvPicPr>
        <p:blipFill>
          <a:blip r:embed="rId6"/>
          <a:stretch>
            <a:fillRect/>
          </a:stretch>
        </p:blipFill>
        <p:spPr>
          <a:xfrm>
            <a:off x="685434" y="4489338"/>
            <a:ext cx="201900" cy="201900"/>
          </a:xfrm>
          <a:prstGeom prst="rect">
            <a:avLst/>
          </a:prstGeom>
        </p:spPr>
      </p:pic>
      <p:sp>
        <p:nvSpPr>
          <p:cNvPr id="25" name="Shape 19"/>
          <p:cNvSpPr/>
          <p:nvPr/>
        </p:nvSpPr>
        <p:spPr>
          <a:xfrm>
            <a:off x="566928" y="4370832"/>
            <a:ext cx="438912" cy="438912"/>
          </a:xfrm>
          <a:prstGeom prst="ellipse">
            <a:avLst/>
          </a:prstGeom>
          <a:solidFill>
            <a:srgbClr val="0A0A18">
              <a:alpha val="0"/>
            </a:srgbClr>
          </a:solidFill>
          <a:ln w="19050">
            <a:solidFill>
              <a:srgbClr val="7B2FF7"/>
            </a:solidFill>
            <a:prstDash val="solid"/>
          </a:ln>
        </p:spPr>
        <p:txBody>
          <a:bodyPr/>
          <a:lstStyle/>
          <a:p>
            <a:endParaRPr lang="en-GB"/>
          </a:p>
        </p:txBody>
      </p:sp>
      <p:sp>
        <p:nvSpPr>
          <p:cNvPr id="26" name="Text 20"/>
          <p:cNvSpPr/>
          <p:nvPr/>
        </p:nvSpPr>
        <p:spPr>
          <a:xfrm>
            <a:off x="1207008" y="4343400"/>
            <a:ext cx="10241280" cy="2743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Two clocks, one timezone</a:t>
            </a:r>
            <a:endParaRPr lang="en-US" sz="1350" dirty="0"/>
          </a:p>
        </p:txBody>
      </p:sp>
      <p:sp>
        <p:nvSpPr>
          <p:cNvPr id="27" name="Text 21"/>
          <p:cNvSpPr/>
          <p:nvPr/>
        </p:nvSpPr>
        <p:spPr>
          <a:xfrm>
            <a:off x="1207008" y="4617720"/>
            <a:ext cx="10332720" cy="658368"/>
          </a:xfrm>
          <a:prstGeom prst="rect">
            <a:avLst/>
          </a:prstGeom>
          <a:noFill/>
          <a:ln/>
        </p:spPr>
        <p:txBody>
          <a:bodyPr wrap="square" rtlCol="0" anchor="ctr"/>
          <a:lstStyle/>
          <a:p>
            <a:pPr marL="0" indent="0">
              <a:lnSpc>
                <a:spcPct val="114000"/>
              </a:lnSpc>
              <a:buNone/>
            </a:pPr>
            <a:r>
              <a:rPr lang="en-US" sz="1100" dirty="0">
                <a:solidFill>
                  <a:srgbClr val="A9B4D0"/>
                </a:solidFill>
                <a:latin typeface="Calibri" pitchFamily="34" charset="0"/>
                <a:ea typeface="Calibri" pitchFamily="34" charset="-122"/>
                <a:cs typeface="Calibri" pitchFamily="34" charset="-120"/>
              </a:rPr>
              <a:t>2020 is Lisbon local time; 2021+ is UTC. Both converted to Europe/Lisbon. About 146 rows land on the DST clock-change gap and become NaT by design, not by error.</a:t>
            </a:r>
            <a:endParaRPr lang="en-US" sz="1100" dirty="0"/>
          </a:p>
        </p:txBody>
      </p:sp>
      <p:sp>
        <p:nvSpPr>
          <p:cNvPr id="28" name="Shape 22"/>
          <p:cNvSpPr/>
          <p:nvPr/>
        </p:nvSpPr>
        <p:spPr>
          <a:xfrm>
            <a:off x="566928" y="5413248"/>
            <a:ext cx="438912" cy="438912"/>
          </a:xfrm>
          <a:prstGeom prst="ellipse">
            <a:avLst/>
          </a:prstGeom>
          <a:solidFill>
            <a:srgbClr val="0A0A18"/>
          </a:solidFill>
          <a:ln/>
        </p:spPr>
        <p:txBody>
          <a:bodyPr/>
          <a:lstStyle/>
          <a:p>
            <a:endParaRPr lang="en-GB"/>
          </a:p>
        </p:txBody>
      </p:sp>
      <p:pic>
        <p:nvPicPr>
          <p:cNvPr id="29" name="Image 4" descr="assets/icon_mappin_22D3EE.png"/>
          <p:cNvPicPr>
            <a:picLocks noChangeAspect="1"/>
          </p:cNvPicPr>
          <p:nvPr/>
        </p:nvPicPr>
        <p:blipFill>
          <a:blip r:embed="rId7"/>
          <a:stretch>
            <a:fillRect/>
          </a:stretch>
        </p:blipFill>
        <p:spPr>
          <a:xfrm>
            <a:off x="685434" y="5531754"/>
            <a:ext cx="201900" cy="201900"/>
          </a:xfrm>
          <a:prstGeom prst="rect">
            <a:avLst/>
          </a:prstGeom>
        </p:spPr>
      </p:pic>
      <p:sp>
        <p:nvSpPr>
          <p:cNvPr id="30" name="Shape 23"/>
          <p:cNvSpPr/>
          <p:nvPr/>
        </p:nvSpPr>
        <p:spPr>
          <a:xfrm>
            <a:off x="566928" y="5413248"/>
            <a:ext cx="438912" cy="438912"/>
          </a:xfrm>
          <a:prstGeom prst="ellipse">
            <a:avLst/>
          </a:prstGeom>
          <a:solidFill>
            <a:srgbClr val="0A0A18">
              <a:alpha val="0"/>
            </a:srgbClr>
          </a:solidFill>
          <a:ln w="19050">
            <a:solidFill>
              <a:srgbClr val="22D3EE"/>
            </a:solidFill>
            <a:prstDash val="solid"/>
          </a:ln>
        </p:spPr>
        <p:txBody>
          <a:bodyPr/>
          <a:lstStyle/>
          <a:p>
            <a:endParaRPr lang="en-GB"/>
          </a:p>
        </p:txBody>
      </p:sp>
      <p:sp>
        <p:nvSpPr>
          <p:cNvPr id="31" name="Text 24"/>
          <p:cNvSpPr/>
          <p:nvPr/>
        </p:nvSpPr>
        <p:spPr>
          <a:xfrm>
            <a:off x="1207008" y="5385816"/>
            <a:ext cx="10241280" cy="27432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Fixing names, never overwriting</a:t>
            </a:r>
            <a:endParaRPr lang="en-US" sz="1350" dirty="0"/>
          </a:p>
        </p:txBody>
      </p:sp>
      <p:sp>
        <p:nvSpPr>
          <p:cNvPr id="32" name="Text 25"/>
          <p:cNvSpPr/>
          <p:nvPr/>
        </p:nvSpPr>
        <p:spPr>
          <a:xfrm>
            <a:off x="1207008" y="5660136"/>
            <a:ext cx="10332720" cy="658368"/>
          </a:xfrm>
          <a:prstGeom prst="rect">
            <a:avLst/>
          </a:prstGeom>
          <a:noFill/>
          <a:ln/>
        </p:spPr>
        <p:txBody>
          <a:bodyPr wrap="square" rtlCol="0" anchor="ctr"/>
          <a:lstStyle/>
          <a:p>
            <a:pPr marL="0" indent="0">
              <a:lnSpc>
                <a:spcPct val="114000"/>
              </a:lnSpc>
              <a:buNone/>
            </a:pPr>
            <a:r>
              <a:rPr lang="en-US" sz="1100" dirty="0">
                <a:solidFill>
                  <a:srgbClr val="A9B4D0"/>
                </a:solidFill>
                <a:latin typeface="Calibri" pitchFamily="34" charset="0"/>
                <a:ea typeface="Calibri" pitchFamily="34" charset="-122"/>
                <a:cs typeface="Calibri" pitchFamily="34" charset="-120"/>
              </a:rPr>
              <a:t>Names trimmed and a corrupted 2020 label repaired; the numeric prefix becomes a clean station_id, the reliable key for joining every year together.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07</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CLEANING · PART 2</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Flag it, don't erase it, then compute the rates</a:t>
            </a:r>
            <a:endParaRPr lang="en-US" sz="3400" dirty="0"/>
          </a:p>
        </p:txBody>
      </p:sp>
      <p:sp>
        <p:nvSpPr>
          <p:cNvPr id="13" name="Text 10"/>
          <p:cNvSpPr/>
          <p:nvPr/>
        </p:nvSpPr>
        <p:spPr>
          <a:xfrm>
            <a:off x="566928" y="2249424"/>
            <a:ext cx="11064240" cy="365760"/>
          </a:xfrm>
          <a:prstGeom prst="rect">
            <a:avLst/>
          </a:prstGeom>
          <a:noFill/>
          <a:ln/>
        </p:spPr>
        <p:txBody>
          <a:bodyPr wrap="square" rtlCol="0" anchor="ctr"/>
          <a:lstStyle/>
          <a:p>
            <a:pPr marL="0" indent="0">
              <a:buNone/>
            </a:pPr>
            <a:r>
              <a:rPr lang="en-US" sz="1250" dirty="0">
                <a:solidFill>
                  <a:srgbClr val="A9B4D0"/>
                </a:solidFill>
                <a:latin typeface="Calibri" pitchFamily="34" charset="0"/>
                <a:ea typeface="Calibri" pitchFamily="34" charset="-122"/>
                <a:cs typeface="Calibri" pitchFamily="34" charset="-120"/>
              </a:rPr>
              <a:t>Every fix lives in a new column or boolean flag; the raw values stay available for validation.</a:t>
            </a:r>
            <a:endParaRPr lang="en-US" sz="1250" dirty="0"/>
          </a:p>
        </p:txBody>
      </p:sp>
      <p:sp>
        <p:nvSpPr>
          <p:cNvPr id="14" name="Shape 11"/>
          <p:cNvSpPr/>
          <p:nvPr/>
        </p:nvSpPr>
        <p:spPr>
          <a:xfrm>
            <a:off x="566928" y="2761488"/>
            <a:ext cx="3566160" cy="1481328"/>
          </a:xfrm>
          <a:prstGeom prst="roundRect">
            <a:avLst>
              <a:gd name="adj" fmla="val 3395"/>
            </a:avLst>
          </a:prstGeom>
          <a:solidFill>
            <a:srgbClr val="0E1030">
              <a:alpha val="82000"/>
            </a:srgbClr>
          </a:solidFill>
          <a:ln w="22225">
            <a:solidFill>
              <a:srgbClr val="22D3EE"/>
            </a:solidFill>
            <a:prstDash val="solid"/>
          </a:ln>
        </p:spPr>
        <p:txBody>
          <a:bodyPr/>
          <a:lstStyle/>
          <a:p>
            <a:endParaRPr lang="en-GB"/>
          </a:p>
        </p:txBody>
      </p:sp>
      <p:sp>
        <p:nvSpPr>
          <p:cNvPr id="15" name="Text 12"/>
          <p:cNvSpPr/>
          <p:nvPr/>
        </p:nvSpPr>
        <p:spPr>
          <a:xfrm>
            <a:off x="822960" y="2907792"/>
            <a:ext cx="3063240" cy="347472"/>
          </a:xfrm>
          <a:prstGeom prst="rect">
            <a:avLst/>
          </a:prstGeom>
          <a:noFill/>
          <a:ln/>
        </p:spPr>
        <p:txBody>
          <a:bodyPr wrap="square" rtlCol="0" anchor="ctr"/>
          <a:lstStyle/>
          <a:p>
            <a:pPr marL="0" indent="0">
              <a:buNone/>
            </a:pPr>
            <a:r>
              <a:rPr lang="en-US" sz="1250" b="1" dirty="0">
                <a:solidFill>
                  <a:srgbClr val="22D3EE"/>
                </a:solidFill>
                <a:latin typeface="Courier New" pitchFamily="34" charset="0"/>
                <a:ea typeface="Courier New" pitchFamily="34" charset="-122"/>
                <a:cs typeface="Courier New" pitchFamily="34" charset="-120"/>
              </a:rPr>
              <a:t>numdocasvacias_fix</a:t>
            </a:r>
            <a:endParaRPr lang="en-US" sz="1250" dirty="0"/>
          </a:p>
        </p:txBody>
      </p:sp>
      <p:sp>
        <p:nvSpPr>
          <p:cNvPr id="16" name="Text 13"/>
          <p:cNvSpPr/>
          <p:nvPr/>
        </p:nvSpPr>
        <p:spPr>
          <a:xfrm>
            <a:off x="822960" y="3291840"/>
            <a:ext cx="3063240" cy="822960"/>
          </a:xfrm>
          <a:prstGeom prst="rect">
            <a:avLst/>
          </a:prstGeom>
          <a:noFill/>
          <a:ln/>
        </p:spPr>
        <p:txBody>
          <a:bodyPr wrap="square" rtlCol="0" anchor="ctr"/>
          <a:lstStyle/>
          <a:p>
            <a:pPr marL="0" indent="0">
              <a:lnSpc>
                <a:spcPct val="118000"/>
              </a:lnSpc>
              <a:buNone/>
            </a:pPr>
            <a:r>
              <a:rPr lang="en-US" sz="1050" dirty="0">
                <a:solidFill>
                  <a:srgbClr val="A9B4D0"/>
                </a:solidFill>
                <a:latin typeface="Calibri" pitchFamily="34" charset="0"/>
                <a:ea typeface="Calibri" pitchFamily="34" charset="-122"/>
                <a:cs typeface="Calibri" pitchFamily="34" charset="-120"/>
              </a:rPr>
              <a:t>116 negative values clipped to 0</a:t>
            </a:r>
            <a:endParaRPr lang="en-US" sz="1050" dirty="0"/>
          </a:p>
        </p:txBody>
      </p:sp>
      <p:sp>
        <p:nvSpPr>
          <p:cNvPr id="17" name="Shape 14"/>
          <p:cNvSpPr/>
          <p:nvPr/>
        </p:nvSpPr>
        <p:spPr>
          <a:xfrm>
            <a:off x="4315968" y="2761488"/>
            <a:ext cx="3566160" cy="1481328"/>
          </a:xfrm>
          <a:prstGeom prst="roundRect">
            <a:avLst>
              <a:gd name="adj" fmla="val 3395"/>
            </a:avLst>
          </a:prstGeom>
          <a:solidFill>
            <a:srgbClr val="0E1030">
              <a:alpha val="82000"/>
            </a:srgbClr>
          </a:solidFill>
          <a:ln w="22225">
            <a:solidFill>
              <a:srgbClr val="E930D8"/>
            </a:solidFill>
            <a:prstDash val="solid"/>
          </a:ln>
        </p:spPr>
        <p:txBody>
          <a:bodyPr/>
          <a:lstStyle/>
          <a:p>
            <a:endParaRPr lang="en-GB"/>
          </a:p>
        </p:txBody>
      </p:sp>
      <p:sp>
        <p:nvSpPr>
          <p:cNvPr id="18" name="Text 15"/>
          <p:cNvSpPr/>
          <p:nvPr/>
        </p:nvSpPr>
        <p:spPr>
          <a:xfrm>
            <a:off x="4572000" y="2907792"/>
            <a:ext cx="3063240" cy="347472"/>
          </a:xfrm>
          <a:prstGeom prst="rect">
            <a:avLst/>
          </a:prstGeom>
          <a:noFill/>
          <a:ln/>
        </p:spPr>
        <p:txBody>
          <a:bodyPr wrap="square" rtlCol="0" anchor="ctr"/>
          <a:lstStyle/>
          <a:p>
            <a:pPr marL="0" indent="0">
              <a:buNone/>
            </a:pPr>
            <a:r>
              <a:rPr lang="en-US" sz="1250" b="1" dirty="0">
                <a:solidFill>
                  <a:srgbClr val="E930D8"/>
                </a:solidFill>
                <a:latin typeface="Courier New" pitchFamily="34" charset="0"/>
                <a:ea typeface="Courier New" pitchFamily="34" charset="-122"/>
                <a:cs typeface="Courier New" pitchFamily="34" charset="-120"/>
              </a:rPr>
              <a:t>is_impossible</a:t>
            </a:r>
            <a:endParaRPr lang="en-US" sz="1250" dirty="0"/>
          </a:p>
        </p:txBody>
      </p:sp>
      <p:sp>
        <p:nvSpPr>
          <p:cNvPr id="19" name="Text 16"/>
          <p:cNvSpPr/>
          <p:nvPr/>
        </p:nvSpPr>
        <p:spPr>
          <a:xfrm>
            <a:off x="4572000" y="3291840"/>
            <a:ext cx="3063240" cy="822960"/>
          </a:xfrm>
          <a:prstGeom prst="rect">
            <a:avLst/>
          </a:prstGeom>
          <a:noFill/>
          <a:ln/>
        </p:spPr>
        <p:txBody>
          <a:bodyPr wrap="square" rtlCol="0" anchor="ctr"/>
          <a:lstStyle/>
          <a:p>
            <a:pPr marL="0" indent="0">
              <a:lnSpc>
                <a:spcPct val="118000"/>
              </a:lnSpc>
              <a:buNone/>
            </a:pPr>
            <a:r>
              <a:rPr lang="en-US" sz="1050" dirty="0">
                <a:solidFill>
                  <a:srgbClr val="A9B4D0"/>
                </a:solidFill>
                <a:latin typeface="Calibri" pitchFamily="34" charset="0"/>
                <a:ea typeface="Calibri" pitchFamily="34" charset="-122"/>
                <a:cs typeface="Calibri" pitchFamily="34" charset="-120"/>
              </a:rPr>
              <a:t>20,976 rows (0.51%): bikes &gt; docks, or zero capacity</a:t>
            </a:r>
            <a:endParaRPr lang="en-US" sz="1050" dirty="0"/>
          </a:p>
        </p:txBody>
      </p:sp>
      <p:sp>
        <p:nvSpPr>
          <p:cNvPr id="20" name="Shape 17"/>
          <p:cNvSpPr/>
          <p:nvPr/>
        </p:nvSpPr>
        <p:spPr>
          <a:xfrm>
            <a:off x="8065008" y="2761488"/>
            <a:ext cx="3566160" cy="1481328"/>
          </a:xfrm>
          <a:prstGeom prst="roundRect">
            <a:avLst>
              <a:gd name="adj" fmla="val 3395"/>
            </a:avLst>
          </a:prstGeom>
          <a:solidFill>
            <a:srgbClr val="0E1030">
              <a:alpha val="82000"/>
            </a:srgbClr>
          </a:solidFill>
          <a:ln w="22225">
            <a:solidFill>
              <a:srgbClr val="7B2FF7"/>
            </a:solidFill>
            <a:prstDash val="solid"/>
          </a:ln>
        </p:spPr>
        <p:txBody>
          <a:bodyPr/>
          <a:lstStyle/>
          <a:p>
            <a:endParaRPr lang="en-GB"/>
          </a:p>
        </p:txBody>
      </p:sp>
      <p:sp>
        <p:nvSpPr>
          <p:cNvPr id="21" name="Text 18"/>
          <p:cNvSpPr/>
          <p:nvPr/>
        </p:nvSpPr>
        <p:spPr>
          <a:xfrm>
            <a:off x="8321040" y="2907792"/>
            <a:ext cx="3063240" cy="347472"/>
          </a:xfrm>
          <a:prstGeom prst="rect">
            <a:avLst/>
          </a:prstGeom>
          <a:noFill/>
          <a:ln/>
        </p:spPr>
        <p:txBody>
          <a:bodyPr wrap="square" rtlCol="0" anchor="ctr"/>
          <a:lstStyle/>
          <a:p>
            <a:pPr marL="0" indent="0">
              <a:buNone/>
            </a:pPr>
            <a:r>
              <a:rPr lang="en-US" sz="1250" b="1" dirty="0">
                <a:solidFill>
                  <a:srgbClr val="7B2FF7"/>
                </a:solidFill>
                <a:latin typeface="Courier New" pitchFamily="34" charset="0"/>
                <a:ea typeface="Courier New" pitchFamily="34" charset="-122"/>
                <a:cs typeface="Courier New" pitchFamily="34" charset="-120"/>
              </a:rPr>
              <a:t>is_repair</a:t>
            </a:r>
            <a:endParaRPr lang="en-US" sz="1250" dirty="0"/>
          </a:p>
        </p:txBody>
      </p:sp>
      <p:sp>
        <p:nvSpPr>
          <p:cNvPr id="22" name="Text 19"/>
          <p:cNvSpPr/>
          <p:nvPr/>
        </p:nvSpPr>
        <p:spPr>
          <a:xfrm>
            <a:off x="8321040" y="3291840"/>
            <a:ext cx="3063240" cy="822960"/>
          </a:xfrm>
          <a:prstGeom prst="rect">
            <a:avLst/>
          </a:prstGeom>
          <a:noFill/>
          <a:ln/>
        </p:spPr>
        <p:txBody>
          <a:bodyPr wrap="square" rtlCol="0" anchor="ctr"/>
          <a:lstStyle/>
          <a:p>
            <a:pPr marL="0" indent="0">
              <a:lnSpc>
                <a:spcPct val="118000"/>
              </a:lnSpc>
              <a:buNone/>
            </a:pPr>
            <a:r>
              <a:rPr lang="en-US" sz="1050" dirty="0">
                <a:solidFill>
                  <a:srgbClr val="A9B4D0"/>
                </a:solidFill>
                <a:latin typeface="Calibri" pitchFamily="34" charset="0"/>
                <a:ea typeface="Calibri" pitchFamily="34" charset="-122"/>
                <a:cs typeface="Calibri" pitchFamily="34" charset="-120"/>
              </a:rPr>
              <a:t>160,208 rows (3.92%) under maintenance, excluded from rates</a:t>
            </a:r>
            <a:endParaRPr lang="en-US" sz="1050" dirty="0"/>
          </a:p>
        </p:txBody>
      </p:sp>
      <p:sp>
        <p:nvSpPr>
          <p:cNvPr id="23" name="Text 20"/>
          <p:cNvSpPr/>
          <p:nvPr/>
        </p:nvSpPr>
        <p:spPr>
          <a:xfrm>
            <a:off x="566928" y="4443984"/>
            <a:ext cx="11064240" cy="548640"/>
          </a:xfrm>
          <a:prstGeom prst="rect">
            <a:avLst/>
          </a:prstGeom>
          <a:noFill/>
          <a:ln/>
        </p:spPr>
        <p:txBody>
          <a:bodyPr wrap="square" rtlCol="0" anchor="ctr"/>
          <a:lstStyle/>
          <a:p>
            <a:pPr marL="0" indent="0">
              <a:lnSpc>
                <a:spcPct val="120000"/>
              </a:lnSpc>
              <a:buNone/>
            </a:pPr>
            <a:r>
              <a:rPr lang="en-US" sz="1150" i="1" dirty="0">
                <a:solidFill>
                  <a:srgbClr val="6F7BA0"/>
                </a:solidFill>
                <a:latin typeface="Calibri" pitchFamily="34" charset="0"/>
                <a:ea typeface="Calibri" pitchFamily="34" charset="-122"/>
                <a:cs typeface="Calibri" pitchFamily="34" charset="-120"/>
              </a:rPr>
              <a:t>occupancy_rate is computed only after impossible rows are flagged. Set them to pd.NA first, or a divide-by-zero produces inf values that silently poison every downstream average.</a:t>
            </a:r>
            <a:endParaRPr lang="en-US" sz="1150" dirty="0"/>
          </a:p>
        </p:txBody>
      </p:sp>
      <p:sp>
        <p:nvSpPr>
          <p:cNvPr id="24" name="Shape 21"/>
          <p:cNvSpPr/>
          <p:nvPr/>
        </p:nvSpPr>
        <p:spPr>
          <a:xfrm>
            <a:off x="566928" y="5102352"/>
            <a:ext cx="11064240" cy="1207008"/>
          </a:xfrm>
          <a:prstGeom prst="roundRect">
            <a:avLst>
              <a:gd name="adj" fmla="val 4167"/>
            </a:avLst>
          </a:prstGeom>
          <a:solidFill>
            <a:srgbClr val="0E1030">
              <a:alpha val="82000"/>
            </a:srgbClr>
          </a:solidFill>
          <a:ln w="22225">
            <a:solidFill>
              <a:srgbClr val="22D3EE"/>
            </a:solidFill>
            <a:prstDash val="solid"/>
          </a:ln>
        </p:spPr>
        <p:txBody>
          <a:bodyPr/>
          <a:lstStyle/>
          <a:p>
            <a:endParaRPr lang="en-GB"/>
          </a:p>
        </p:txBody>
      </p:sp>
      <p:pic>
        <p:nvPicPr>
          <p:cNvPr id="25" name="Image 1" descr="assets/icon_bike_22D3EE.png"/>
          <p:cNvPicPr>
            <a:picLocks noChangeAspect="1"/>
          </p:cNvPicPr>
          <p:nvPr/>
        </p:nvPicPr>
        <p:blipFill>
          <a:blip r:embed="rId4"/>
          <a:stretch>
            <a:fillRect/>
          </a:stretch>
        </p:blipFill>
        <p:spPr>
          <a:xfrm>
            <a:off x="10619232" y="5253228"/>
            <a:ext cx="704088" cy="704088"/>
          </a:xfrm>
          <a:prstGeom prst="rect">
            <a:avLst/>
          </a:prstGeom>
        </p:spPr>
      </p:pic>
      <p:sp>
        <p:nvSpPr>
          <p:cNvPr id="26" name="Text 22"/>
          <p:cNvSpPr/>
          <p:nvPr/>
        </p:nvSpPr>
        <p:spPr>
          <a:xfrm>
            <a:off x="868680" y="5248656"/>
            <a:ext cx="2606040" cy="457200"/>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4,090,179</a:t>
            </a:r>
            <a:endParaRPr lang="en-US" sz="2200" dirty="0"/>
          </a:p>
        </p:txBody>
      </p:sp>
      <p:sp>
        <p:nvSpPr>
          <p:cNvPr id="27" name="Text 23"/>
          <p:cNvSpPr/>
          <p:nvPr/>
        </p:nvSpPr>
        <p:spPr>
          <a:xfrm>
            <a:off x="868680" y="5705856"/>
            <a:ext cx="2606040" cy="365760"/>
          </a:xfrm>
          <a:prstGeom prst="rect">
            <a:avLst/>
          </a:prstGeom>
          <a:noFill/>
          <a:ln/>
        </p:spPr>
        <p:txBody>
          <a:bodyPr wrap="square" rtlCol="0" anchor="ctr"/>
          <a:lstStyle/>
          <a:p>
            <a:pPr marL="0" indent="0">
              <a:buNone/>
            </a:pPr>
            <a:r>
              <a:rPr lang="en-US" sz="1050" dirty="0">
                <a:solidFill>
                  <a:srgbClr val="A9B4D0"/>
                </a:solidFill>
                <a:latin typeface="Calibri" pitchFamily="34" charset="0"/>
                <a:ea typeface="Calibri" pitchFamily="34" charset="-122"/>
                <a:cs typeface="Calibri" pitchFamily="34" charset="-120"/>
              </a:rPr>
              <a:t>clean rows saved</a:t>
            </a:r>
            <a:endParaRPr lang="en-US" sz="1050" dirty="0"/>
          </a:p>
        </p:txBody>
      </p:sp>
      <p:sp>
        <p:nvSpPr>
          <p:cNvPr id="28" name="Text 24"/>
          <p:cNvSpPr/>
          <p:nvPr/>
        </p:nvSpPr>
        <p:spPr>
          <a:xfrm>
            <a:off x="3566160" y="5248656"/>
            <a:ext cx="2606040" cy="457200"/>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5.04%</a:t>
            </a:r>
            <a:endParaRPr lang="en-US" sz="2200" dirty="0"/>
          </a:p>
        </p:txBody>
      </p:sp>
      <p:sp>
        <p:nvSpPr>
          <p:cNvPr id="29" name="Text 25"/>
          <p:cNvSpPr/>
          <p:nvPr/>
        </p:nvSpPr>
        <p:spPr>
          <a:xfrm>
            <a:off x="3566160" y="5705856"/>
            <a:ext cx="2606040" cy="365760"/>
          </a:xfrm>
          <a:prstGeom prst="rect">
            <a:avLst/>
          </a:prstGeom>
          <a:noFill/>
          <a:ln/>
        </p:spPr>
        <p:txBody>
          <a:bodyPr wrap="square" rtlCol="0" anchor="ctr"/>
          <a:lstStyle/>
          <a:p>
            <a:pPr marL="0" indent="0">
              <a:buNone/>
            </a:pPr>
            <a:r>
              <a:rPr lang="en-US" sz="1050" dirty="0">
                <a:solidFill>
                  <a:srgbClr val="A9B4D0"/>
                </a:solidFill>
                <a:latin typeface="Calibri" pitchFamily="34" charset="0"/>
                <a:ea typeface="Calibri" pitchFamily="34" charset="-122"/>
                <a:cs typeface="Calibri" pitchFamily="34" charset="-120"/>
              </a:rPr>
              <a:t>snapshots empty</a:t>
            </a:r>
            <a:endParaRPr lang="en-US" sz="1050" dirty="0"/>
          </a:p>
        </p:txBody>
      </p:sp>
      <p:sp>
        <p:nvSpPr>
          <p:cNvPr id="30" name="Text 26"/>
          <p:cNvSpPr/>
          <p:nvPr/>
        </p:nvSpPr>
        <p:spPr>
          <a:xfrm>
            <a:off x="6263640" y="5248656"/>
            <a:ext cx="2606040" cy="457200"/>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1.96%</a:t>
            </a:r>
            <a:endParaRPr lang="en-US" sz="2200" dirty="0"/>
          </a:p>
        </p:txBody>
      </p:sp>
      <p:sp>
        <p:nvSpPr>
          <p:cNvPr id="31" name="Text 27"/>
          <p:cNvSpPr/>
          <p:nvPr/>
        </p:nvSpPr>
        <p:spPr>
          <a:xfrm>
            <a:off x="6263640" y="5705856"/>
            <a:ext cx="2606040" cy="365760"/>
          </a:xfrm>
          <a:prstGeom prst="rect">
            <a:avLst/>
          </a:prstGeom>
          <a:noFill/>
          <a:ln/>
        </p:spPr>
        <p:txBody>
          <a:bodyPr wrap="square" rtlCol="0" anchor="ctr"/>
          <a:lstStyle/>
          <a:p>
            <a:pPr marL="0" indent="0">
              <a:buNone/>
            </a:pPr>
            <a:r>
              <a:rPr lang="en-US" sz="1050" dirty="0">
                <a:solidFill>
                  <a:srgbClr val="A9B4D0"/>
                </a:solidFill>
                <a:latin typeface="Calibri" pitchFamily="34" charset="0"/>
                <a:ea typeface="Calibri" pitchFamily="34" charset="-122"/>
                <a:cs typeface="Calibri" pitchFamily="34" charset="-120"/>
              </a:rPr>
              <a:t>snapshots full</a:t>
            </a:r>
            <a:endParaRPr lang="en-US" sz="1050" dirty="0"/>
          </a:p>
        </p:txBody>
      </p:sp>
      <p:sp>
        <p:nvSpPr>
          <p:cNvPr id="32" name="Text 28"/>
          <p:cNvSpPr/>
          <p:nvPr/>
        </p:nvSpPr>
        <p:spPr>
          <a:xfrm>
            <a:off x="8961120" y="5248656"/>
            <a:ext cx="2606040" cy="457200"/>
          </a:xfrm>
          <a:prstGeom prst="rect">
            <a:avLst/>
          </a:prstGeom>
          <a:noFill/>
          <a:ln/>
        </p:spPr>
        <p:txBody>
          <a:bodyPr wrap="square"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85.3 MB</a:t>
            </a:r>
            <a:endParaRPr lang="en-US" sz="2200" dirty="0"/>
          </a:p>
        </p:txBody>
      </p:sp>
      <p:sp>
        <p:nvSpPr>
          <p:cNvPr id="33" name="Text 29"/>
          <p:cNvSpPr/>
          <p:nvPr/>
        </p:nvSpPr>
        <p:spPr>
          <a:xfrm>
            <a:off x="8961120" y="5705856"/>
            <a:ext cx="2606040" cy="365760"/>
          </a:xfrm>
          <a:prstGeom prst="rect">
            <a:avLst/>
          </a:prstGeom>
          <a:noFill/>
          <a:ln/>
        </p:spPr>
        <p:txBody>
          <a:bodyPr wrap="square" rtlCol="0" anchor="ctr"/>
          <a:lstStyle/>
          <a:p>
            <a:pPr marL="0" indent="0">
              <a:buNone/>
            </a:pPr>
            <a:r>
              <a:rPr lang="en-US" sz="1050" dirty="0">
                <a:solidFill>
                  <a:srgbClr val="A9B4D0"/>
                </a:solidFill>
                <a:latin typeface="Calibri" pitchFamily="34" charset="0"/>
                <a:ea typeface="Calibri" pitchFamily="34" charset="-122"/>
                <a:cs typeface="Calibri" pitchFamily="34" charset="-120"/>
              </a:rPr>
              <a:t>parquet + BOM CSV</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08</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E930D8"/>
                </a:solidFill>
                <a:latin typeface="Calibri" pitchFamily="34" charset="0"/>
                <a:ea typeface="Calibri" pitchFamily="34" charset="-122"/>
                <a:cs typeface="Calibri" pitchFamily="34" charset="-120"/>
              </a:rPr>
              <a:t>PART 3 · ANALYSIS</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Stations nearly doubled, capacity grew faster</a:t>
            </a:r>
            <a:endParaRPr lang="en-US" sz="3400" dirty="0"/>
          </a:p>
        </p:txBody>
      </p:sp>
      <p:sp>
        <p:nvSpPr>
          <p:cNvPr id="13" name="Shape 10"/>
          <p:cNvSpPr/>
          <p:nvPr/>
        </p:nvSpPr>
        <p:spPr>
          <a:xfrm>
            <a:off x="466344" y="2295144"/>
            <a:ext cx="7973568" cy="3914546"/>
          </a:xfrm>
          <a:prstGeom prst="roundRect">
            <a:avLst>
              <a:gd name="adj" fmla="val 1168"/>
            </a:avLst>
          </a:prstGeom>
          <a:solidFill>
            <a:srgbClr val="0E1030">
              <a:alpha val="58000"/>
            </a:srgbClr>
          </a:solidFill>
          <a:ln w="15875">
            <a:solidFill>
              <a:srgbClr val="22D3EE"/>
            </a:solidFill>
            <a:prstDash val="solid"/>
          </a:ln>
        </p:spPr>
        <p:txBody>
          <a:bodyPr/>
          <a:lstStyle/>
          <a:p>
            <a:endParaRPr lang="en-GB"/>
          </a:p>
        </p:txBody>
      </p:sp>
      <p:pic>
        <p:nvPicPr>
          <p:cNvPr id="14" name="Image 1" descr="assets/chart_growth.png"/>
          <p:cNvPicPr>
            <a:picLocks noChangeAspect="1"/>
          </p:cNvPicPr>
          <p:nvPr/>
        </p:nvPicPr>
        <p:blipFill>
          <a:blip r:embed="rId4"/>
          <a:stretch>
            <a:fillRect/>
          </a:stretch>
        </p:blipFill>
        <p:spPr>
          <a:xfrm>
            <a:off x="566928" y="2395728"/>
            <a:ext cx="7772400" cy="3713378"/>
          </a:xfrm>
          <a:prstGeom prst="rect">
            <a:avLst/>
          </a:prstGeom>
        </p:spPr>
      </p:pic>
      <p:sp>
        <p:nvSpPr>
          <p:cNvPr id="15" name="Shape 11"/>
          <p:cNvSpPr/>
          <p:nvPr/>
        </p:nvSpPr>
        <p:spPr>
          <a:xfrm>
            <a:off x="8686800" y="2276856"/>
            <a:ext cx="2953512" cy="3932834"/>
          </a:xfrm>
          <a:prstGeom prst="roundRect">
            <a:avLst>
              <a:gd name="adj" fmla="val 1703"/>
            </a:avLst>
          </a:prstGeom>
          <a:solidFill>
            <a:srgbClr val="0E1030">
              <a:alpha val="82000"/>
            </a:srgbClr>
          </a:solidFill>
          <a:ln w="22225">
            <a:solidFill>
              <a:srgbClr val="E930D8"/>
            </a:solidFill>
            <a:prstDash val="solid"/>
          </a:ln>
        </p:spPr>
        <p:txBody>
          <a:bodyPr/>
          <a:lstStyle/>
          <a:p>
            <a:endParaRPr lang="en-GB"/>
          </a:p>
        </p:txBody>
      </p:sp>
      <p:pic>
        <p:nvPicPr>
          <p:cNvPr id="16" name="Image 2" descr="assets/icon_bike_E930D8.png"/>
          <p:cNvPicPr>
            <a:picLocks noChangeAspect="1"/>
          </p:cNvPicPr>
          <p:nvPr/>
        </p:nvPicPr>
        <p:blipFill>
          <a:blip r:embed="rId5"/>
          <a:stretch>
            <a:fillRect/>
          </a:stretch>
        </p:blipFill>
        <p:spPr>
          <a:xfrm>
            <a:off x="11018520" y="2395728"/>
            <a:ext cx="384048" cy="384048"/>
          </a:xfrm>
          <a:prstGeom prst="rect">
            <a:avLst/>
          </a:prstGeom>
        </p:spPr>
      </p:pic>
      <p:sp>
        <p:nvSpPr>
          <p:cNvPr id="17" name="Text 12"/>
          <p:cNvSpPr/>
          <p:nvPr/>
        </p:nvSpPr>
        <p:spPr>
          <a:xfrm>
            <a:off x="8924544" y="2450592"/>
            <a:ext cx="2514600" cy="274320"/>
          </a:xfrm>
          <a:prstGeom prst="rect">
            <a:avLst/>
          </a:prstGeom>
          <a:noFill/>
          <a:ln/>
        </p:spPr>
        <p:txBody>
          <a:bodyPr wrap="square" rtlCol="0" anchor="ctr"/>
          <a:lstStyle/>
          <a:p>
            <a:pPr marL="0" indent="0">
              <a:buNone/>
            </a:pPr>
            <a:r>
              <a:rPr lang="en-US" sz="1100" b="1" kern="0" spc="130" dirty="0">
                <a:solidFill>
                  <a:srgbClr val="E930D8"/>
                </a:solidFill>
                <a:latin typeface="Calibri" pitchFamily="34" charset="0"/>
                <a:ea typeface="Calibri" pitchFamily="34" charset="-122"/>
                <a:cs typeface="Calibri" pitchFamily="34" charset="-120"/>
              </a:rPr>
              <a:t>TAKEAWAYS</a:t>
            </a:r>
            <a:endParaRPr lang="en-US" sz="1100" dirty="0"/>
          </a:p>
        </p:txBody>
      </p:sp>
      <p:sp>
        <p:nvSpPr>
          <p:cNvPr id="18" name="Text 13"/>
          <p:cNvSpPr/>
          <p:nvPr/>
        </p:nvSpPr>
        <p:spPr>
          <a:xfrm>
            <a:off x="8924544" y="2743200"/>
            <a:ext cx="2514600" cy="3017520"/>
          </a:xfrm>
          <a:prstGeom prst="rect">
            <a:avLst/>
          </a:prstGeom>
          <a:noFill/>
          <a:ln/>
        </p:spPr>
        <p:txBody>
          <a:bodyPr wrap="square" rtlCol="0" anchor="ctr"/>
          <a:lstStyle/>
          <a:p>
            <a:pPr marL="0" indent="0">
              <a:lnSpc>
                <a:spcPct val="118000"/>
              </a:lnSpc>
              <a:buNone/>
            </a:pPr>
            <a:r>
              <a:rPr lang="en-US" sz="1050" b="1" dirty="0">
                <a:solidFill>
                  <a:srgbClr val="FFFFFF"/>
                </a:solidFill>
                <a:latin typeface="Calibri" pitchFamily="34" charset="0"/>
                <a:ea typeface="Calibri" pitchFamily="34" charset="-122"/>
                <a:cs typeface="Calibri" pitchFamily="34" charset="-120"/>
              </a:rPr>
              <a:t>85 → 102 → 146 → 147</a:t>
            </a:r>
            <a:endParaRPr lang="en-US" sz="1050" dirty="0"/>
          </a:p>
          <a:p>
            <a:pPr marL="0" indent="0">
              <a:lnSpc>
                <a:spcPct val="118000"/>
              </a:lnSpc>
              <a:spcAft>
                <a:spcPts val="900"/>
              </a:spcAft>
              <a:buNone/>
            </a:pPr>
            <a:r>
              <a:rPr lang="en-US" sz="1000" dirty="0">
                <a:solidFill>
                  <a:srgbClr val="A9B4D0"/>
                </a:solidFill>
                <a:latin typeface="Calibri" pitchFamily="34" charset="0"/>
                <a:ea typeface="Calibri" pitchFamily="34" charset="-122"/>
                <a:cs typeface="Calibri" pitchFamily="34" charset="-120"/>
              </a:rPr>
              <a:t>active stations, 2020 → 2023 Q1</a:t>
            </a:r>
            <a:endParaRPr lang="en-US" sz="1050" dirty="0"/>
          </a:p>
          <a:p>
            <a:pPr marL="342900" indent="-342900">
              <a:lnSpc>
                <a:spcPct val="118000"/>
              </a:lnSpc>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2021 → 2022 capacity grew faster than station count</a:t>
            </a:r>
            <a:endParaRPr lang="en-US" sz="1200" dirty="0"/>
          </a:p>
          <a:p>
            <a:pPr marL="342900" indent="-342900">
              <a:lnSpc>
                <a:spcPct val="118000"/>
              </a:lnSpc>
              <a:spcAft>
                <a:spcPts val="700"/>
              </a:spcAft>
              <a:buSzPct val="100000"/>
              <a:buChar char="•"/>
            </a:pPr>
            <a:r>
              <a:rPr lang="en-US" sz="1200" dirty="0">
                <a:solidFill>
                  <a:srgbClr val="FFFFFF"/>
                </a:solidFill>
                <a:latin typeface="Calibri" pitchFamily="34" charset="0"/>
                <a:ea typeface="Calibri" pitchFamily="34" charset="-122"/>
                <a:cs typeface="Calibri" pitchFamily="34" charset="-120"/>
              </a:rPr>
              <a:t>newer stations were built larger, not just more numerous</a:t>
            </a:r>
            <a:endParaRPr lang="en-US" sz="1200" dirty="0"/>
          </a:p>
          <a:p>
            <a:pPr marL="342900" indent="-342900">
              <a:lnSpc>
                <a:spcPct val="118000"/>
              </a:lnSpc>
              <a:buSzPct val="100000"/>
              <a:buChar char="•"/>
            </a:pPr>
            <a:r>
              <a:rPr lang="en-US" sz="1200" dirty="0">
                <a:solidFill>
                  <a:srgbClr val="FFFFFF"/>
                </a:solidFill>
                <a:latin typeface="Calibri" pitchFamily="34" charset="0"/>
                <a:ea typeface="Calibri" pitchFamily="34" charset="-122"/>
                <a:cs typeface="Calibri" pitchFamily="34" charset="-120"/>
              </a:rPr>
              <a:t>2023 is Q1 only, so always compare like-for-like quarters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09</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SQ1 · WHEN DOES IT FAIL?</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Empty peaks mid-morning; full peaks overnight</a:t>
            </a:r>
            <a:endParaRPr lang="en-US" sz="3400" dirty="0"/>
          </a:p>
        </p:txBody>
      </p:sp>
      <p:sp>
        <p:nvSpPr>
          <p:cNvPr id="13" name="Shape 10"/>
          <p:cNvSpPr/>
          <p:nvPr/>
        </p:nvSpPr>
        <p:spPr>
          <a:xfrm>
            <a:off x="466344" y="2231136"/>
            <a:ext cx="7607808" cy="3828593"/>
          </a:xfrm>
          <a:prstGeom prst="roundRect">
            <a:avLst>
              <a:gd name="adj" fmla="val 1194"/>
            </a:avLst>
          </a:prstGeom>
          <a:solidFill>
            <a:srgbClr val="0E1030">
              <a:alpha val="58000"/>
            </a:srgbClr>
          </a:solidFill>
          <a:ln w="15875">
            <a:solidFill>
              <a:srgbClr val="22D3EE"/>
            </a:solidFill>
            <a:prstDash val="solid"/>
          </a:ln>
        </p:spPr>
        <p:txBody>
          <a:bodyPr/>
          <a:lstStyle/>
          <a:p>
            <a:endParaRPr lang="en-GB"/>
          </a:p>
        </p:txBody>
      </p:sp>
      <p:pic>
        <p:nvPicPr>
          <p:cNvPr id="14" name="Image 1" descr="assets/chart_hourly.png"/>
          <p:cNvPicPr>
            <a:picLocks noChangeAspect="1"/>
          </p:cNvPicPr>
          <p:nvPr/>
        </p:nvPicPr>
        <p:blipFill>
          <a:blip r:embed="rId4"/>
          <a:stretch>
            <a:fillRect/>
          </a:stretch>
        </p:blipFill>
        <p:spPr>
          <a:xfrm>
            <a:off x="566928" y="2331720"/>
            <a:ext cx="7406640" cy="3627425"/>
          </a:xfrm>
          <a:prstGeom prst="rect">
            <a:avLst/>
          </a:prstGeom>
        </p:spPr>
      </p:pic>
      <p:sp>
        <p:nvSpPr>
          <p:cNvPr id="15" name="Shape 11"/>
          <p:cNvSpPr/>
          <p:nvPr/>
        </p:nvSpPr>
        <p:spPr>
          <a:xfrm>
            <a:off x="8302752" y="2212848"/>
            <a:ext cx="3337560" cy="3886200"/>
          </a:xfrm>
          <a:prstGeom prst="roundRect">
            <a:avLst>
              <a:gd name="adj" fmla="val 1507"/>
            </a:avLst>
          </a:prstGeom>
          <a:solidFill>
            <a:srgbClr val="0E1030">
              <a:alpha val="82000"/>
            </a:srgbClr>
          </a:solidFill>
          <a:ln w="22225">
            <a:solidFill>
              <a:srgbClr val="E930D8"/>
            </a:solidFill>
            <a:prstDash val="solid"/>
          </a:ln>
        </p:spPr>
        <p:txBody>
          <a:bodyPr/>
          <a:lstStyle/>
          <a:p>
            <a:endParaRPr lang="en-GB"/>
          </a:p>
        </p:txBody>
      </p:sp>
      <p:sp>
        <p:nvSpPr>
          <p:cNvPr id="16" name="Text 12"/>
          <p:cNvSpPr/>
          <p:nvPr/>
        </p:nvSpPr>
        <p:spPr>
          <a:xfrm>
            <a:off x="8540496" y="2377440"/>
            <a:ext cx="2880360" cy="274320"/>
          </a:xfrm>
          <a:prstGeom prst="rect">
            <a:avLst/>
          </a:prstGeom>
          <a:noFill/>
          <a:ln/>
        </p:spPr>
        <p:txBody>
          <a:bodyPr wrap="square" rtlCol="0" anchor="ctr"/>
          <a:lstStyle/>
          <a:p>
            <a:pPr marL="0" indent="0">
              <a:buNone/>
            </a:pPr>
            <a:r>
              <a:rPr lang="en-US" sz="1100" b="1" kern="0" spc="130" dirty="0">
                <a:solidFill>
                  <a:srgbClr val="E930D8"/>
                </a:solidFill>
                <a:latin typeface="Calibri" pitchFamily="34" charset="0"/>
                <a:ea typeface="Calibri" pitchFamily="34" charset="-122"/>
                <a:cs typeface="Calibri" pitchFamily="34" charset="-120"/>
              </a:rPr>
              <a:t>TAKEAWAYS</a:t>
            </a:r>
            <a:endParaRPr lang="en-US" sz="1100" dirty="0"/>
          </a:p>
        </p:txBody>
      </p:sp>
      <p:sp>
        <p:nvSpPr>
          <p:cNvPr id="17" name="Text 13"/>
          <p:cNvSpPr/>
          <p:nvPr/>
        </p:nvSpPr>
        <p:spPr>
          <a:xfrm>
            <a:off x="8540496" y="2670048"/>
            <a:ext cx="2880360" cy="3291840"/>
          </a:xfrm>
          <a:prstGeom prst="rect">
            <a:avLst/>
          </a:prstGeom>
          <a:noFill/>
          <a:ln/>
        </p:spPr>
        <p:txBody>
          <a:bodyPr wrap="square" rtlCol="0" anchor="ctr"/>
          <a:lstStyle/>
          <a:p>
            <a:pPr marL="342900" indent="-342900">
              <a:lnSpc>
                <a:spcPct val="118000"/>
              </a:lnSpc>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Empty bottoms at 3.8% at 07:00, then a 6.2–6.8% plateau from 10:00 to 18:00</a:t>
            </a:r>
            <a:endParaRPr lang="en-US" sz="1050" dirty="0"/>
          </a:p>
          <a:p>
            <a:pPr marL="342900" indent="-342900">
              <a:lnSpc>
                <a:spcPct val="118000"/>
              </a:lnSpc>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Full is the mirror image: ~3.7% before dawn, under 1% by midday</a:t>
            </a:r>
            <a:endParaRPr lang="en-US" sz="1050" dirty="0"/>
          </a:p>
          <a:p>
            <a:pPr marL="342900" indent="-342900">
              <a:lnSpc>
                <a:spcPct val="118000"/>
              </a:lnSpc>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The two peak at opposite hours: bikes drain out by day and dock back up overnight</a:t>
            </a:r>
            <a:endParaRPr lang="en-US" sz="1050" dirty="0"/>
          </a:p>
          <a:p>
            <a:pPr marL="0" indent="0">
              <a:lnSpc>
                <a:spcPct val="118000"/>
              </a:lnSpc>
              <a:buNone/>
            </a:pPr>
            <a:r>
              <a:rPr lang="en-US" sz="950" i="1" dirty="0">
                <a:solidFill>
                  <a:srgbClr val="6F7BA0"/>
                </a:solidFill>
                <a:latin typeface="Calibri" pitchFamily="34" charset="0"/>
                <a:ea typeface="Calibri" pitchFamily="34" charset="-122"/>
                <a:cs typeface="Calibri" pitchFamily="34" charset="-120"/>
              </a:rPr>
              <a:t>Repair and impossible rows excluded; local time throughout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10</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SQ1 · WHEN DOES IT FAIL?</a:t>
            </a:r>
            <a:endParaRPr lang="en-US" sz="1150" dirty="0"/>
          </a:p>
        </p:txBody>
      </p:sp>
      <p:sp>
        <p:nvSpPr>
          <p:cNvPr id="12" name="Text 9"/>
          <p:cNvSpPr/>
          <p:nvPr/>
        </p:nvSpPr>
        <p:spPr>
          <a:xfrm>
            <a:off x="548640" y="1179576"/>
            <a:ext cx="11064240" cy="1051560"/>
          </a:xfrm>
          <a:prstGeom prst="rect">
            <a:avLst/>
          </a:prstGeom>
          <a:noFill/>
          <a:ln/>
        </p:spPr>
        <p:txBody>
          <a:bodyPr wrap="square" rtlCol="0" anchor="ctr"/>
          <a:lstStyle/>
          <a:p>
            <a:pPr marL="0" indent="0" algn="ctr">
              <a:lnSpc>
                <a:spcPct val="102000"/>
              </a:lnSpc>
              <a:buNone/>
            </a:pPr>
            <a:r>
              <a:rPr lang="en-US" sz="2800" b="1" dirty="0">
                <a:solidFill>
                  <a:srgbClr val="FFFFFF"/>
                </a:solidFill>
                <a:latin typeface="Trebuchet MS" pitchFamily="34" charset="0"/>
                <a:ea typeface="Trebuchet MS" pitchFamily="34" charset="-122"/>
                <a:cs typeface="Trebuchet MS" pitchFamily="34" charset="-120"/>
              </a:rPr>
              <a:t>A commuter fingerprint: weekday 10:00 vs weekend 16:00</a:t>
            </a:r>
            <a:endParaRPr lang="en-US" sz="2800" dirty="0"/>
          </a:p>
        </p:txBody>
      </p:sp>
      <p:sp>
        <p:nvSpPr>
          <p:cNvPr id="13" name="Shape 10"/>
          <p:cNvSpPr/>
          <p:nvPr/>
        </p:nvSpPr>
        <p:spPr>
          <a:xfrm>
            <a:off x="466344" y="2185416"/>
            <a:ext cx="7196328" cy="4262933"/>
          </a:xfrm>
          <a:prstGeom prst="roundRect">
            <a:avLst>
              <a:gd name="adj" fmla="val 1073"/>
            </a:avLst>
          </a:prstGeom>
          <a:solidFill>
            <a:srgbClr val="0E1030">
              <a:alpha val="58000"/>
            </a:srgbClr>
          </a:solidFill>
          <a:ln w="15875">
            <a:solidFill>
              <a:srgbClr val="22D3EE"/>
            </a:solidFill>
            <a:prstDash val="solid"/>
          </a:ln>
        </p:spPr>
        <p:txBody>
          <a:bodyPr/>
          <a:lstStyle/>
          <a:p>
            <a:endParaRPr lang="en-GB"/>
          </a:p>
        </p:txBody>
      </p:sp>
      <p:pic>
        <p:nvPicPr>
          <p:cNvPr id="14" name="Image 1" descr="assets/chart_weekday_weekend.png"/>
          <p:cNvPicPr>
            <a:picLocks noChangeAspect="1"/>
          </p:cNvPicPr>
          <p:nvPr/>
        </p:nvPicPr>
        <p:blipFill>
          <a:blip r:embed="rId4"/>
          <a:stretch>
            <a:fillRect/>
          </a:stretch>
        </p:blipFill>
        <p:spPr>
          <a:xfrm>
            <a:off x="566928" y="2286000"/>
            <a:ext cx="6995160" cy="4061765"/>
          </a:xfrm>
          <a:prstGeom prst="rect">
            <a:avLst/>
          </a:prstGeom>
        </p:spPr>
      </p:pic>
      <p:sp>
        <p:nvSpPr>
          <p:cNvPr id="15" name="Shape 11"/>
          <p:cNvSpPr/>
          <p:nvPr/>
        </p:nvSpPr>
        <p:spPr>
          <a:xfrm>
            <a:off x="7891272" y="2167128"/>
            <a:ext cx="3749040" cy="4160520"/>
          </a:xfrm>
          <a:prstGeom prst="roundRect">
            <a:avLst>
              <a:gd name="adj" fmla="val 1341"/>
            </a:avLst>
          </a:prstGeom>
          <a:solidFill>
            <a:srgbClr val="0E1030">
              <a:alpha val="82000"/>
            </a:srgbClr>
          </a:solidFill>
          <a:ln w="22225">
            <a:solidFill>
              <a:srgbClr val="E930D8"/>
            </a:solidFill>
            <a:prstDash val="solid"/>
          </a:ln>
        </p:spPr>
        <p:txBody>
          <a:bodyPr/>
          <a:lstStyle/>
          <a:p>
            <a:endParaRPr lang="en-GB"/>
          </a:p>
        </p:txBody>
      </p:sp>
      <p:sp>
        <p:nvSpPr>
          <p:cNvPr id="16" name="Text 12"/>
          <p:cNvSpPr/>
          <p:nvPr/>
        </p:nvSpPr>
        <p:spPr>
          <a:xfrm>
            <a:off x="8129016" y="2331720"/>
            <a:ext cx="3291840" cy="274320"/>
          </a:xfrm>
          <a:prstGeom prst="rect">
            <a:avLst/>
          </a:prstGeom>
          <a:noFill/>
          <a:ln/>
        </p:spPr>
        <p:txBody>
          <a:bodyPr wrap="square" rtlCol="0" anchor="ctr"/>
          <a:lstStyle/>
          <a:p>
            <a:pPr marL="0" indent="0">
              <a:buNone/>
            </a:pPr>
            <a:r>
              <a:rPr lang="en-US" sz="1100" b="1" kern="0" spc="130" dirty="0">
                <a:solidFill>
                  <a:srgbClr val="E930D8"/>
                </a:solidFill>
                <a:latin typeface="Calibri" pitchFamily="34" charset="0"/>
                <a:ea typeface="Calibri" pitchFamily="34" charset="-122"/>
                <a:cs typeface="Calibri" pitchFamily="34" charset="-120"/>
              </a:rPr>
              <a:t>TAKEAWAYS</a:t>
            </a:r>
            <a:endParaRPr lang="en-US" sz="1100" dirty="0"/>
          </a:p>
        </p:txBody>
      </p:sp>
      <p:sp>
        <p:nvSpPr>
          <p:cNvPr id="17" name="Text 13"/>
          <p:cNvSpPr/>
          <p:nvPr/>
        </p:nvSpPr>
        <p:spPr>
          <a:xfrm>
            <a:off x="8129016" y="2624328"/>
            <a:ext cx="3291840" cy="3566160"/>
          </a:xfrm>
          <a:prstGeom prst="rect">
            <a:avLst/>
          </a:prstGeom>
          <a:noFill/>
          <a:ln/>
        </p:spPr>
        <p:txBody>
          <a:bodyPr wrap="square" rtlCol="0" anchor="ctr"/>
          <a:lstStyle/>
          <a:p>
            <a:pPr marL="342900" indent="-342900">
              <a:lnSpc>
                <a:spcPct val="118000"/>
              </a:lnSpc>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Weekday empty peak: 10:00, at 7.7%</a:t>
            </a:r>
            <a:endParaRPr lang="en-US" sz="1050" dirty="0"/>
          </a:p>
          <a:p>
            <a:pPr marL="342900" indent="-342900">
              <a:lnSpc>
                <a:spcPct val="118000"/>
              </a:lnSpc>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Weekend empty peak: 16:00, at 7.0%, a full six hours later</a:t>
            </a:r>
            <a:endParaRPr lang="en-US" sz="1050" dirty="0"/>
          </a:p>
          <a:p>
            <a:pPr marL="342900" indent="-342900">
              <a:lnSpc>
                <a:spcPct val="118000"/>
              </a:lnSpc>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Weekdays swing harder (3.9–7.7%) than weekends (3.4–7.0%)</a:t>
            </a:r>
            <a:endParaRPr lang="en-US" sz="1050" dirty="0"/>
          </a:p>
          <a:p>
            <a:pPr marL="342900" indent="-342900">
              <a:lnSpc>
                <a:spcPct val="118000"/>
              </a:lnSpc>
              <a:buSzPct val="100000"/>
              <a:buChar char="•"/>
            </a:pPr>
            <a:r>
              <a:rPr lang="en-US" sz="1050" dirty="0">
                <a:solidFill>
                  <a:srgbClr val="FFFFFF"/>
                </a:solidFill>
                <a:latin typeface="Calibri" pitchFamily="34" charset="0"/>
                <a:ea typeface="Calibri" pitchFamily="34" charset="-122"/>
                <a:cs typeface="Calibri" pitchFamily="34" charset="-120"/>
              </a:rPr>
              <a:t>That is the commuter mechanism: sharp weekday morning peak, gentler and later leisure pattern at weekends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11</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SQ1 · WHEN DOES IT FAIL?</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Lockdown “fixed” availability by removing riders</a:t>
            </a:r>
            <a:endParaRPr lang="en-US" sz="3400" dirty="0"/>
          </a:p>
        </p:txBody>
      </p:sp>
      <p:sp>
        <p:nvSpPr>
          <p:cNvPr id="13" name="Shape 10"/>
          <p:cNvSpPr/>
          <p:nvPr/>
        </p:nvSpPr>
        <p:spPr>
          <a:xfrm>
            <a:off x="466344" y="2231136"/>
            <a:ext cx="7790688" cy="3607308"/>
          </a:xfrm>
          <a:prstGeom prst="roundRect">
            <a:avLst>
              <a:gd name="adj" fmla="val 1267"/>
            </a:avLst>
          </a:prstGeom>
          <a:solidFill>
            <a:srgbClr val="0E1030">
              <a:alpha val="58000"/>
            </a:srgbClr>
          </a:solidFill>
          <a:ln w="15875">
            <a:solidFill>
              <a:srgbClr val="22D3EE"/>
            </a:solidFill>
            <a:prstDash val="solid"/>
          </a:ln>
        </p:spPr>
        <p:txBody>
          <a:bodyPr/>
          <a:lstStyle/>
          <a:p>
            <a:endParaRPr lang="en-GB"/>
          </a:p>
        </p:txBody>
      </p:sp>
      <p:pic>
        <p:nvPicPr>
          <p:cNvPr id="14" name="Image 1" descr="assets/chart_monthly.png"/>
          <p:cNvPicPr>
            <a:picLocks noChangeAspect="1"/>
          </p:cNvPicPr>
          <p:nvPr/>
        </p:nvPicPr>
        <p:blipFill>
          <a:blip r:embed="rId4"/>
          <a:stretch>
            <a:fillRect/>
          </a:stretch>
        </p:blipFill>
        <p:spPr>
          <a:xfrm>
            <a:off x="566928" y="2331720"/>
            <a:ext cx="7589520" cy="3406140"/>
          </a:xfrm>
          <a:prstGeom prst="rect">
            <a:avLst/>
          </a:prstGeom>
        </p:spPr>
      </p:pic>
      <p:sp>
        <p:nvSpPr>
          <p:cNvPr id="15" name="Shape 11"/>
          <p:cNvSpPr/>
          <p:nvPr/>
        </p:nvSpPr>
        <p:spPr>
          <a:xfrm>
            <a:off x="8485632" y="2212848"/>
            <a:ext cx="3154680" cy="4023360"/>
          </a:xfrm>
          <a:prstGeom prst="roundRect">
            <a:avLst>
              <a:gd name="adj" fmla="val 1594"/>
            </a:avLst>
          </a:prstGeom>
          <a:solidFill>
            <a:srgbClr val="0E1030">
              <a:alpha val="82000"/>
            </a:srgbClr>
          </a:solidFill>
          <a:ln w="22225">
            <a:solidFill>
              <a:srgbClr val="E930D8"/>
            </a:solidFill>
            <a:prstDash val="solid"/>
          </a:ln>
        </p:spPr>
        <p:txBody>
          <a:bodyPr/>
          <a:lstStyle/>
          <a:p>
            <a:endParaRPr lang="en-GB"/>
          </a:p>
        </p:txBody>
      </p:sp>
      <p:pic>
        <p:nvPicPr>
          <p:cNvPr id="16" name="Image 2" descr="assets/icon_bike_E930D8.png"/>
          <p:cNvPicPr>
            <a:picLocks noChangeAspect="1"/>
          </p:cNvPicPr>
          <p:nvPr/>
        </p:nvPicPr>
        <p:blipFill>
          <a:blip r:embed="rId5"/>
          <a:stretch>
            <a:fillRect/>
          </a:stretch>
        </p:blipFill>
        <p:spPr>
          <a:xfrm>
            <a:off x="11119104" y="2286000"/>
            <a:ext cx="384048" cy="384048"/>
          </a:xfrm>
          <a:prstGeom prst="rect">
            <a:avLst/>
          </a:prstGeom>
        </p:spPr>
      </p:pic>
      <p:sp>
        <p:nvSpPr>
          <p:cNvPr id="17" name="Text 12"/>
          <p:cNvSpPr/>
          <p:nvPr/>
        </p:nvSpPr>
        <p:spPr>
          <a:xfrm>
            <a:off x="8723376" y="2377440"/>
            <a:ext cx="2697480" cy="274320"/>
          </a:xfrm>
          <a:prstGeom prst="rect">
            <a:avLst/>
          </a:prstGeom>
          <a:noFill/>
          <a:ln/>
        </p:spPr>
        <p:txBody>
          <a:bodyPr wrap="square" rtlCol="0" anchor="ctr"/>
          <a:lstStyle/>
          <a:p>
            <a:pPr marL="0" indent="0">
              <a:buNone/>
            </a:pPr>
            <a:r>
              <a:rPr lang="en-US" sz="1100" b="1" kern="0" spc="130" dirty="0">
                <a:solidFill>
                  <a:srgbClr val="E930D8"/>
                </a:solidFill>
                <a:latin typeface="Calibri" pitchFamily="34" charset="0"/>
                <a:ea typeface="Calibri" pitchFamily="34" charset="-122"/>
                <a:cs typeface="Calibri" pitchFamily="34" charset="-120"/>
              </a:rPr>
              <a:t>TAKEAWAYS</a:t>
            </a:r>
            <a:endParaRPr lang="en-US" sz="1100" dirty="0"/>
          </a:p>
        </p:txBody>
      </p:sp>
      <p:sp>
        <p:nvSpPr>
          <p:cNvPr id="18" name="Text 13"/>
          <p:cNvSpPr/>
          <p:nvPr/>
        </p:nvSpPr>
        <p:spPr>
          <a:xfrm>
            <a:off x="8723376" y="2670048"/>
            <a:ext cx="2697480" cy="3429000"/>
          </a:xfrm>
          <a:prstGeom prst="rect">
            <a:avLst/>
          </a:prstGeom>
          <a:noFill/>
          <a:ln/>
        </p:spPr>
        <p:txBody>
          <a:bodyPr wrap="square" rtlCol="0" anchor="ctr"/>
          <a:lstStyle/>
          <a:p>
            <a:pPr marL="342900" indent="-342900">
              <a:lnSpc>
                <a:spcPct val="118000"/>
              </a:lnSpc>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April 2020 fell to 1.3%, the lowest month in the whole series</a:t>
            </a:r>
            <a:endParaRPr lang="en-US" sz="1050" dirty="0"/>
          </a:p>
          <a:p>
            <a:pPr marL="342900" indent="-342900">
              <a:lnSpc>
                <a:spcPct val="118000"/>
              </a:lnSpc>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Nobody was riding, so bikes stayed docked. Availability looked perfect because demand had vanished</a:t>
            </a:r>
            <a:endParaRPr lang="en-US" sz="1050" dirty="0"/>
          </a:p>
          <a:p>
            <a:pPr marL="342900" indent="-342900">
              <a:lnSpc>
                <a:spcPct val="118000"/>
              </a:lnSpc>
              <a:spcAft>
                <a:spcPts val="800"/>
              </a:spcAft>
              <a:buSzPct val="100000"/>
              <a:buChar char="•"/>
            </a:pPr>
            <a:r>
              <a:rPr lang="en-US" sz="1050" dirty="0">
                <a:solidFill>
                  <a:srgbClr val="FFFFFF"/>
                </a:solidFill>
                <a:latin typeface="Calibri" pitchFamily="34" charset="0"/>
                <a:ea typeface="Calibri" pitchFamily="34" charset="-122"/>
                <a:cs typeface="Calibri" pitchFamily="34" charset="-120"/>
              </a:rPr>
              <a:t>The effect lasted about four months. By September 2020 failures hit 8.4%, above the pre-lockdown 3.8–4.5%</a:t>
            </a:r>
            <a:endParaRPr lang="en-US" sz="1050" dirty="0"/>
          </a:p>
          <a:p>
            <a:pPr marL="342900" indent="-342900">
              <a:lnSpc>
                <a:spcPct val="118000"/>
              </a:lnSpc>
              <a:buSzPct val="100000"/>
              <a:buChar char="•"/>
            </a:pPr>
            <a:r>
              <a:rPr lang="en-US" sz="1050" dirty="0">
                <a:solidFill>
                  <a:srgbClr val="22D3EE"/>
                </a:solidFill>
                <a:latin typeface="Calibri" pitchFamily="34" charset="0"/>
                <a:ea typeface="Calibri" pitchFamily="34" charset="-122"/>
                <a:cs typeface="Calibri" pitchFamily="34" charset="-120"/>
              </a:rPr>
              <a:t>So, failure rate tracks demand, not network health: the rise through 2021–22 is partly a busier network</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13</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E930D8"/>
                </a:solidFill>
                <a:latin typeface="Calibri" pitchFamily="34" charset="0"/>
                <a:ea typeface="Calibri" pitchFamily="34" charset="-122"/>
                <a:cs typeface="Calibri" pitchFamily="34" charset="-120"/>
              </a:rPr>
              <a:t>SQ2 · WHERE DOES IT FAIL, AND WHY?</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Lisbon's hills write the failure map</a:t>
            </a:r>
            <a:endParaRPr lang="en-US" sz="3400" dirty="0"/>
          </a:p>
        </p:txBody>
      </p:sp>
      <p:sp>
        <p:nvSpPr>
          <p:cNvPr id="13" name="Shape 10"/>
          <p:cNvSpPr/>
          <p:nvPr/>
        </p:nvSpPr>
        <p:spPr>
          <a:xfrm>
            <a:off x="557784" y="2112264"/>
            <a:ext cx="4636008" cy="4421124"/>
          </a:xfrm>
          <a:prstGeom prst="roundRect">
            <a:avLst>
              <a:gd name="adj" fmla="val 1034"/>
            </a:avLst>
          </a:prstGeom>
          <a:solidFill>
            <a:srgbClr val="0E1030">
              <a:alpha val="58000"/>
            </a:srgbClr>
          </a:solidFill>
          <a:ln w="15875">
            <a:solidFill>
              <a:srgbClr val="22D3EE"/>
            </a:solidFill>
            <a:prstDash val="solid"/>
          </a:ln>
        </p:spPr>
        <p:txBody>
          <a:bodyPr/>
          <a:lstStyle/>
          <a:p>
            <a:endParaRPr lang="en-GB"/>
          </a:p>
        </p:txBody>
      </p:sp>
      <p:pic>
        <p:nvPicPr>
          <p:cNvPr id="14" name="Image 1" descr="assets/chart_geography.png"/>
          <p:cNvPicPr>
            <a:picLocks noChangeAspect="1"/>
          </p:cNvPicPr>
          <p:nvPr/>
        </p:nvPicPr>
        <p:blipFill>
          <a:blip r:embed="rId4"/>
          <a:stretch>
            <a:fillRect/>
          </a:stretch>
        </p:blipFill>
        <p:spPr>
          <a:xfrm>
            <a:off x="658368" y="2212848"/>
            <a:ext cx="4434840" cy="4219956"/>
          </a:xfrm>
          <a:prstGeom prst="rect">
            <a:avLst/>
          </a:prstGeom>
        </p:spPr>
      </p:pic>
      <p:sp>
        <p:nvSpPr>
          <p:cNvPr id="15" name="Shape 11"/>
          <p:cNvSpPr/>
          <p:nvPr/>
        </p:nvSpPr>
        <p:spPr>
          <a:xfrm>
            <a:off x="5440680" y="2167128"/>
            <a:ext cx="6199632" cy="4160520"/>
          </a:xfrm>
          <a:prstGeom prst="roundRect">
            <a:avLst>
              <a:gd name="adj" fmla="val 1209"/>
            </a:avLst>
          </a:prstGeom>
          <a:solidFill>
            <a:srgbClr val="0E1030">
              <a:alpha val="82000"/>
            </a:srgbClr>
          </a:solidFill>
          <a:ln w="22225">
            <a:solidFill>
              <a:srgbClr val="E930D8"/>
            </a:solidFill>
            <a:prstDash val="solid"/>
          </a:ln>
        </p:spPr>
        <p:txBody>
          <a:bodyPr/>
          <a:lstStyle/>
          <a:p>
            <a:endParaRPr lang="en-GB"/>
          </a:p>
        </p:txBody>
      </p:sp>
      <p:pic>
        <p:nvPicPr>
          <p:cNvPr id="16" name="Image 2" descr="assets/icon_bike_E930D8.png"/>
          <p:cNvPicPr>
            <a:picLocks noChangeAspect="1"/>
          </p:cNvPicPr>
          <p:nvPr/>
        </p:nvPicPr>
        <p:blipFill>
          <a:blip r:embed="rId5"/>
          <a:stretch>
            <a:fillRect/>
          </a:stretch>
        </p:blipFill>
        <p:spPr>
          <a:xfrm>
            <a:off x="11109960" y="2286000"/>
            <a:ext cx="384048" cy="384048"/>
          </a:xfrm>
          <a:prstGeom prst="rect">
            <a:avLst/>
          </a:prstGeom>
        </p:spPr>
      </p:pic>
      <p:sp>
        <p:nvSpPr>
          <p:cNvPr id="17" name="Text 12"/>
          <p:cNvSpPr/>
          <p:nvPr/>
        </p:nvSpPr>
        <p:spPr>
          <a:xfrm>
            <a:off x="5687568" y="2340864"/>
            <a:ext cx="5303520" cy="274320"/>
          </a:xfrm>
          <a:prstGeom prst="rect">
            <a:avLst/>
          </a:prstGeom>
          <a:noFill/>
          <a:ln/>
        </p:spPr>
        <p:txBody>
          <a:bodyPr wrap="square" rtlCol="0" anchor="ctr"/>
          <a:lstStyle/>
          <a:p>
            <a:pPr marL="0" indent="0">
              <a:buNone/>
            </a:pPr>
            <a:r>
              <a:rPr lang="en-US" sz="1100" b="1" kern="0" spc="130" dirty="0">
                <a:solidFill>
                  <a:srgbClr val="E930D8"/>
                </a:solidFill>
                <a:latin typeface="Calibri" pitchFamily="34" charset="0"/>
                <a:ea typeface="Calibri" pitchFamily="34" charset="-122"/>
                <a:cs typeface="Calibri" pitchFamily="34" charset="-120"/>
              </a:rPr>
              <a:t>TAKEAWAYS</a:t>
            </a:r>
            <a:endParaRPr lang="en-US" sz="1100" dirty="0"/>
          </a:p>
        </p:txBody>
      </p:sp>
      <p:sp>
        <p:nvSpPr>
          <p:cNvPr id="18" name="Text 13"/>
          <p:cNvSpPr/>
          <p:nvPr/>
        </p:nvSpPr>
        <p:spPr>
          <a:xfrm>
            <a:off x="5687568" y="2651760"/>
            <a:ext cx="2743200" cy="502920"/>
          </a:xfrm>
          <a:prstGeom prst="rect">
            <a:avLst/>
          </a:prstGeom>
          <a:noFill/>
          <a:ln/>
        </p:spPr>
        <p:txBody>
          <a:bodyPr wrap="square" rtlCol="0" anchor="ctr"/>
          <a:lstStyle/>
          <a:p>
            <a:pPr marL="0" indent="0">
              <a:buNone/>
            </a:pPr>
            <a:r>
              <a:rPr lang="en-US" sz="2800" b="1" dirty="0">
                <a:solidFill>
                  <a:srgbClr val="22D3EE"/>
                </a:solidFill>
                <a:latin typeface="Trebuchet MS" pitchFamily="34" charset="0"/>
                <a:ea typeface="Trebuchet MS" pitchFamily="34" charset="-122"/>
                <a:cs typeface="Trebuchet MS" pitchFamily="34" charset="-120"/>
              </a:rPr>
              <a:t>0.39</a:t>
            </a:r>
            <a:endParaRPr lang="en-US" sz="2800" dirty="0"/>
          </a:p>
        </p:txBody>
      </p:sp>
      <p:sp>
        <p:nvSpPr>
          <p:cNvPr id="19" name="Text 14"/>
          <p:cNvSpPr/>
          <p:nvPr/>
        </p:nvSpPr>
        <p:spPr>
          <a:xfrm>
            <a:off x="5687568" y="3145536"/>
            <a:ext cx="2788920" cy="658368"/>
          </a:xfrm>
          <a:prstGeom prst="rect">
            <a:avLst/>
          </a:prstGeom>
          <a:noFill/>
          <a:ln/>
        </p:spPr>
        <p:txBody>
          <a:bodyPr wrap="square" rtlCol="0" anchor="ctr"/>
          <a:lstStyle/>
          <a:p>
            <a:pPr marL="0" indent="0">
              <a:lnSpc>
                <a:spcPct val="112000"/>
              </a:lnSpc>
              <a:buNone/>
            </a:pPr>
            <a:r>
              <a:rPr lang="en-US" sz="1000" dirty="0">
                <a:solidFill>
                  <a:srgbClr val="A9B4D0"/>
                </a:solidFill>
                <a:latin typeface="Calibri" pitchFamily="34" charset="0"/>
                <a:ea typeface="Calibri" pitchFamily="34" charset="-122"/>
                <a:cs typeface="Calibri" pitchFamily="34" charset="-120"/>
              </a:rPr>
              <a:t>tilt vs real elevation (latitude proxy managed only 0.06)</a:t>
            </a:r>
            <a:endParaRPr lang="en-US" sz="1000" dirty="0"/>
          </a:p>
        </p:txBody>
      </p:sp>
      <p:sp>
        <p:nvSpPr>
          <p:cNvPr id="20" name="Text 15"/>
          <p:cNvSpPr/>
          <p:nvPr/>
        </p:nvSpPr>
        <p:spPr>
          <a:xfrm>
            <a:off x="8686800" y="2651760"/>
            <a:ext cx="2834640" cy="502920"/>
          </a:xfrm>
          <a:prstGeom prst="rect">
            <a:avLst/>
          </a:prstGeom>
          <a:noFill/>
          <a:ln/>
        </p:spPr>
        <p:txBody>
          <a:bodyPr wrap="square" rtlCol="0" anchor="ctr"/>
          <a:lstStyle/>
          <a:p>
            <a:pPr marL="0" indent="0">
              <a:buNone/>
            </a:pPr>
            <a:r>
              <a:rPr lang="en-US" sz="2400" b="1" dirty="0">
                <a:solidFill>
                  <a:srgbClr val="E930D8"/>
                </a:solidFill>
                <a:latin typeface="Trebuchet MS" pitchFamily="34" charset="0"/>
                <a:ea typeface="Trebuchet MS" pitchFamily="34" charset="-122"/>
                <a:cs typeface="Trebuchet MS" pitchFamily="34" charset="-120"/>
              </a:rPr>
              <a:t>81m vs 30m</a:t>
            </a:r>
            <a:endParaRPr lang="en-US" sz="2400" dirty="0"/>
          </a:p>
        </p:txBody>
      </p:sp>
      <p:sp>
        <p:nvSpPr>
          <p:cNvPr id="21" name="Text 16"/>
          <p:cNvSpPr/>
          <p:nvPr/>
        </p:nvSpPr>
        <p:spPr>
          <a:xfrm>
            <a:off x="8686800" y="3145536"/>
            <a:ext cx="2788920" cy="658368"/>
          </a:xfrm>
          <a:prstGeom prst="rect">
            <a:avLst/>
          </a:prstGeom>
          <a:noFill/>
          <a:ln/>
        </p:spPr>
        <p:txBody>
          <a:bodyPr wrap="square" rtlCol="0" anchor="ctr"/>
          <a:lstStyle/>
          <a:p>
            <a:pPr marL="0" indent="0">
              <a:lnSpc>
                <a:spcPct val="112000"/>
              </a:lnSpc>
              <a:buNone/>
            </a:pPr>
            <a:r>
              <a:rPr lang="en-US" sz="1000" dirty="0">
                <a:solidFill>
                  <a:srgbClr val="A9B4D0"/>
                </a:solidFill>
                <a:latin typeface="Calibri" pitchFamily="34" charset="0"/>
                <a:ea typeface="Calibri" pitchFamily="34" charset="-122"/>
                <a:cs typeface="Calibri" pitchFamily="34" charset="-120"/>
              </a:rPr>
              <a:t>median elevation: empty-prone vs full-prone stations</a:t>
            </a:r>
            <a:endParaRPr lang="en-US" sz="1000" dirty="0"/>
          </a:p>
        </p:txBody>
      </p:sp>
      <p:sp>
        <p:nvSpPr>
          <p:cNvPr id="22" name="Text 17"/>
          <p:cNvSpPr/>
          <p:nvPr/>
        </p:nvSpPr>
        <p:spPr>
          <a:xfrm>
            <a:off x="5687568" y="3913632"/>
            <a:ext cx="5669280" cy="2286000"/>
          </a:xfrm>
          <a:prstGeom prst="rect">
            <a:avLst/>
          </a:prstGeom>
          <a:noFill/>
          <a:ln/>
        </p:spPr>
        <p:txBody>
          <a:bodyPr wrap="square" rtlCol="0" anchor="ctr"/>
          <a:lstStyle/>
          <a:p>
            <a:pPr marL="342900" indent="-342900">
              <a:lnSpc>
                <a:spcPct val="120000"/>
              </a:lnSpc>
              <a:spcAft>
                <a:spcPts val="900"/>
              </a:spcAft>
              <a:buSzPct val="100000"/>
              <a:buChar char="•"/>
            </a:pPr>
            <a:r>
              <a:rPr lang="en-US" sz="1050" dirty="0">
                <a:solidFill>
                  <a:srgbClr val="FFFFFF"/>
                </a:solidFill>
                <a:latin typeface="Calibri" pitchFamily="34" charset="0"/>
                <a:ea typeface="Calibri" pitchFamily="34" charset="-122"/>
                <a:cs typeface="Calibri" pitchFamily="34" charset="-120"/>
              </a:rPr>
              <a:t>Real elevation, joined per station from an open elevation API, is a far stronger signal than latitude. This is about altitude, not north/south</a:t>
            </a:r>
            <a:endParaRPr lang="en-US" sz="1050" dirty="0"/>
          </a:p>
          <a:p>
            <a:pPr marL="342900" indent="-342900">
              <a:lnSpc>
                <a:spcPct val="120000"/>
              </a:lnSpc>
              <a:spcAft>
                <a:spcPts val="900"/>
              </a:spcAft>
              <a:buSzPct val="100000"/>
              <a:buChar char="•"/>
            </a:pPr>
            <a:r>
              <a:rPr lang="en-US" sz="1050" dirty="0">
                <a:solidFill>
                  <a:srgbClr val="FFFFFF"/>
                </a:solidFill>
                <a:latin typeface="Calibri" pitchFamily="34" charset="0"/>
                <a:ea typeface="Calibri" pitchFamily="34" charset="-122"/>
                <a:cs typeface="Calibri" pitchFamily="34" charset="-120"/>
              </a:rPr>
              <a:t>Empty-prone stations sit uphill (magenta); full-prone sit by the river and downtown (cyan). Riders coast down and avoid the ride back up</a:t>
            </a:r>
            <a:endParaRPr lang="en-US" sz="1050" dirty="0"/>
          </a:p>
          <a:p>
            <a:pPr marL="342900" indent="-342900">
              <a:lnSpc>
                <a:spcPct val="120000"/>
              </a:lnSpc>
              <a:spcAft>
                <a:spcPts val="900"/>
              </a:spcAft>
              <a:buSzPct val="100000"/>
              <a:buChar char="•"/>
            </a:pPr>
            <a:r>
              <a:rPr lang="en-US" sz="1050" dirty="0">
                <a:solidFill>
                  <a:srgbClr val="FFFFFF"/>
                </a:solidFill>
                <a:latin typeface="Calibri" pitchFamily="34" charset="0"/>
                <a:ea typeface="Calibri" pitchFamily="34" charset="-122"/>
                <a:cs typeface="Calibri" pitchFamily="34" charset="-120"/>
              </a:rPr>
              <a:t>Worst empty: 479 – Rua Prof. Oliveira Marques, empty 21.9% of the time (~84m)</a:t>
            </a:r>
            <a:endParaRPr lang="en-US" sz="1050" dirty="0"/>
          </a:p>
          <a:p>
            <a:pPr marL="342900" indent="-342900">
              <a:lnSpc>
                <a:spcPct val="120000"/>
              </a:lnSpc>
              <a:buSzPct val="100000"/>
              <a:buChar char="•"/>
            </a:pPr>
            <a:r>
              <a:rPr lang="en-US" sz="1050" dirty="0">
                <a:solidFill>
                  <a:srgbClr val="FFFFFF"/>
                </a:solidFill>
                <a:latin typeface="Calibri" pitchFamily="34" charset="0"/>
                <a:ea typeface="Calibri" pitchFamily="34" charset="-122"/>
                <a:cs typeface="Calibri" pitchFamily="34" charset="-120"/>
              </a:rPr>
              <a:t>Worst full: 452 – Rua Teixeira de Pascoais / Dr. Gama Barros, full 10.8%</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assets/bg_accent.png"/>
          <p:cNvPicPr>
            <a:picLocks noChangeAspect="1"/>
          </p:cNvPicPr>
          <p:nvPr/>
        </p:nvPicPr>
        <p:blipFill>
          <a:blip r:embed="rId3"/>
          <a:stretch>
            <a:fillRect/>
          </a:stretch>
        </p:blipFill>
        <p:spPr>
          <a:xfrm>
            <a:off x="305"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14</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SQ2 · INTERACTIVE MAP</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Explore the failure map, station by station</a:t>
            </a:r>
            <a:endParaRPr lang="en-US" sz="3400" dirty="0"/>
          </a:p>
        </p:txBody>
      </p:sp>
      <p:sp>
        <p:nvSpPr>
          <p:cNvPr id="13" name="Text 10"/>
          <p:cNvSpPr/>
          <p:nvPr/>
        </p:nvSpPr>
        <p:spPr>
          <a:xfrm>
            <a:off x="566928" y="2286000"/>
            <a:ext cx="11064240" cy="384048"/>
          </a:xfrm>
          <a:prstGeom prst="rect">
            <a:avLst/>
          </a:prstGeom>
          <a:noFill/>
          <a:ln/>
        </p:spPr>
        <p:txBody>
          <a:bodyPr wrap="square" rtlCol="0" anchor="ctr"/>
          <a:lstStyle/>
          <a:p>
            <a:pPr marL="0" indent="0">
              <a:buNone/>
            </a:pPr>
            <a:r>
              <a:rPr lang="en-US" sz="1400" dirty="0">
                <a:solidFill>
                  <a:srgbClr val="A9B4D0"/>
                </a:solidFill>
                <a:latin typeface="Calibri" pitchFamily="34" charset="0"/>
                <a:ea typeface="Calibri" pitchFamily="34" charset="-122"/>
                <a:cs typeface="Calibri" pitchFamily="34" charset="-120"/>
              </a:rPr>
              <a:t>The same geography finding, built as a Leaflet map you can pan, zoom and click.</a:t>
            </a:r>
            <a:endParaRPr lang="en-US" sz="1400" dirty="0"/>
          </a:p>
        </p:txBody>
      </p:sp>
      <p:sp>
        <p:nvSpPr>
          <p:cNvPr id="14" name="Shape 11"/>
          <p:cNvSpPr/>
          <p:nvPr/>
        </p:nvSpPr>
        <p:spPr>
          <a:xfrm>
            <a:off x="566928" y="2852928"/>
            <a:ext cx="3566160" cy="1481328"/>
          </a:xfrm>
          <a:prstGeom prst="roundRect">
            <a:avLst>
              <a:gd name="adj" fmla="val 3395"/>
            </a:avLst>
          </a:prstGeom>
          <a:solidFill>
            <a:srgbClr val="0E1030">
              <a:alpha val="82000"/>
            </a:srgbClr>
          </a:solidFill>
          <a:ln w="22225">
            <a:solidFill>
              <a:srgbClr val="22D3EE"/>
            </a:solidFill>
            <a:prstDash val="solid"/>
          </a:ln>
        </p:spPr>
        <p:txBody>
          <a:bodyPr/>
          <a:lstStyle/>
          <a:p>
            <a:endParaRPr lang="en-GB"/>
          </a:p>
        </p:txBody>
      </p:sp>
      <p:sp>
        <p:nvSpPr>
          <p:cNvPr id="15" name="Shape 12"/>
          <p:cNvSpPr/>
          <p:nvPr/>
        </p:nvSpPr>
        <p:spPr>
          <a:xfrm>
            <a:off x="822960" y="3044952"/>
            <a:ext cx="420624" cy="420624"/>
          </a:xfrm>
          <a:prstGeom prst="ellipse">
            <a:avLst/>
          </a:prstGeom>
          <a:solidFill>
            <a:srgbClr val="0A0A18"/>
          </a:solidFill>
          <a:ln/>
        </p:spPr>
        <p:txBody>
          <a:bodyPr/>
          <a:lstStyle/>
          <a:p>
            <a:endParaRPr lang="en-GB"/>
          </a:p>
        </p:txBody>
      </p:sp>
      <p:pic>
        <p:nvPicPr>
          <p:cNvPr id="16" name="Image 1" descr="assets/icon_mappin_22D3EE.png"/>
          <p:cNvPicPr>
            <a:picLocks noChangeAspect="1"/>
          </p:cNvPicPr>
          <p:nvPr/>
        </p:nvPicPr>
        <p:blipFill>
          <a:blip r:embed="rId4"/>
          <a:stretch>
            <a:fillRect/>
          </a:stretch>
        </p:blipFill>
        <p:spPr>
          <a:xfrm>
            <a:off x="936528" y="3158520"/>
            <a:ext cx="193487" cy="193487"/>
          </a:xfrm>
          <a:prstGeom prst="rect">
            <a:avLst/>
          </a:prstGeom>
        </p:spPr>
      </p:pic>
      <p:sp>
        <p:nvSpPr>
          <p:cNvPr id="17" name="Text 13"/>
          <p:cNvSpPr/>
          <p:nvPr/>
        </p:nvSpPr>
        <p:spPr>
          <a:xfrm>
            <a:off x="1371600" y="3072384"/>
            <a:ext cx="2606040" cy="292608"/>
          </a:xfrm>
          <a:prstGeom prst="rect">
            <a:avLst/>
          </a:prstGeom>
          <a:noFill/>
          <a:ln/>
        </p:spPr>
        <p:txBody>
          <a:bodyPr wrap="square" rtlCol="0" anchor="ctr"/>
          <a:lstStyle/>
          <a:p>
            <a:pPr marL="0" indent="0">
              <a:buNone/>
            </a:pPr>
            <a:r>
              <a:rPr lang="en-US" sz="1350" b="1" dirty="0">
                <a:solidFill>
                  <a:srgbClr val="22D3EE"/>
                </a:solidFill>
                <a:latin typeface="Calibri" pitchFamily="34" charset="0"/>
                <a:ea typeface="Calibri" pitchFamily="34" charset="-122"/>
                <a:cs typeface="Calibri" pitchFamily="34" charset="-120"/>
              </a:rPr>
              <a:t>141 stations</a:t>
            </a:r>
            <a:endParaRPr lang="en-US" sz="1350" dirty="0"/>
          </a:p>
        </p:txBody>
      </p:sp>
      <p:sp>
        <p:nvSpPr>
          <p:cNvPr id="18" name="Text 14"/>
          <p:cNvSpPr/>
          <p:nvPr/>
        </p:nvSpPr>
        <p:spPr>
          <a:xfrm>
            <a:off x="822960" y="3529584"/>
            <a:ext cx="3063240" cy="658368"/>
          </a:xfrm>
          <a:prstGeom prst="rect">
            <a:avLst/>
          </a:prstGeom>
          <a:noFill/>
          <a:ln/>
        </p:spPr>
        <p:txBody>
          <a:bodyPr wrap="square" rtlCol="0" anchor="ctr"/>
          <a:lstStyle/>
          <a:p>
            <a:pPr marL="0" indent="0">
              <a:lnSpc>
                <a:spcPct val="114000"/>
              </a:lnSpc>
              <a:buNone/>
            </a:pPr>
            <a:r>
              <a:rPr lang="en-US" sz="1050" dirty="0">
                <a:solidFill>
                  <a:srgbClr val="A9B4D0"/>
                </a:solidFill>
                <a:latin typeface="Calibri" pitchFamily="34" charset="0"/>
                <a:ea typeface="Calibri" pitchFamily="34" charset="-122"/>
                <a:cs typeface="Calibri" pitchFamily="34" charset="-120"/>
              </a:rPr>
              <a:t>Every station with enough data, plotted on the real city map.</a:t>
            </a:r>
            <a:endParaRPr lang="en-US" sz="1050" dirty="0"/>
          </a:p>
        </p:txBody>
      </p:sp>
      <p:sp>
        <p:nvSpPr>
          <p:cNvPr id="19" name="Shape 15"/>
          <p:cNvSpPr/>
          <p:nvPr/>
        </p:nvSpPr>
        <p:spPr>
          <a:xfrm>
            <a:off x="4315968" y="2852928"/>
            <a:ext cx="3566160" cy="1481328"/>
          </a:xfrm>
          <a:prstGeom prst="roundRect">
            <a:avLst>
              <a:gd name="adj" fmla="val 3395"/>
            </a:avLst>
          </a:prstGeom>
          <a:solidFill>
            <a:srgbClr val="0E1030">
              <a:alpha val="82000"/>
            </a:srgbClr>
          </a:solidFill>
          <a:ln w="22225">
            <a:solidFill>
              <a:srgbClr val="E930D8"/>
            </a:solidFill>
            <a:prstDash val="solid"/>
          </a:ln>
        </p:spPr>
        <p:txBody>
          <a:bodyPr/>
          <a:lstStyle/>
          <a:p>
            <a:endParaRPr lang="en-GB"/>
          </a:p>
        </p:txBody>
      </p:sp>
      <p:sp>
        <p:nvSpPr>
          <p:cNvPr id="20" name="Shape 16"/>
          <p:cNvSpPr/>
          <p:nvPr/>
        </p:nvSpPr>
        <p:spPr>
          <a:xfrm>
            <a:off x="4572000" y="3044952"/>
            <a:ext cx="420624" cy="420624"/>
          </a:xfrm>
          <a:prstGeom prst="ellipse">
            <a:avLst/>
          </a:prstGeom>
          <a:solidFill>
            <a:srgbClr val="0A0A18"/>
          </a:solidFill>
          <a:ln/>
        </p:spPr>
        <p:txBody>
          <a:bodyPr/>
          <a:lstStyle/>
          <a:p>
            <a:endParaRPr lang="en-GB"/>
          </a:p>
        </p:txBody>
      </p:sp>
      <p:pic>
        <p:nvPicPr>
          <p:cNvPr id="21" name="Image 2" descr="assets/icon_target_E930D8.png"/>
          <p:cNvPicPr>
            <a:picLocks noChangeAspect="1"/>
          </p:cNvPicPr>
          <p:nvPr/>
        </p:nvPicPr>
        <p:blipFill>
          <a:blip r:embed="rId5"/>
          <a:stretch>
            <a:fillRect/>
          </a:stretch>
        </p:blipFill>
        <p:spPr>
          <a:xfrm>
            <a:off x="4685568" y="3158520"/>
            <a:ext cx="193487" cy="193487"/>
          </a:xfrm>
          <a:prstGeom prst="rect">
            <a:avLst/>
          </a:prstGeom>
        </p:spPr>
      </p:pic>
      <p:sp>
        <p:nvSpPr>
          <p:cNvPr id="22" name="Text 17"/>
          <p:cNvSpPr/>
          <p:nvPr/>
        </p:nvSpPr>
        <p:spPr>
          <a:xfrm>
            <a:off x="5120640" y="3072384"/>
            <a:ext cx="2606040" cy="292608"/>
          </a:xfrm>
          <a:prstGeom prst="rect">
            <a:avLst/>
          </a:prstGeom>
          <a:noFill/>
          <a:ln/>
        </p:spPr>
        <p:txBody>
          <a:bodyPr wrap="square" rtlCol="0" anchor="ctr"/>
          <a:lstStyle/>
          <a:p>
            <a:pPr marL="0" indent="0">
              <a:buNone/>
            </a:pPr>
            <a:r>
              <a:rPr lang="en-US" sz="1350" b="1" dirty="0">
                <a:solidFill>
                  <a:srgbClr val="E930D8"/>
                </a:solidFill>
                <a:latin typeface="Calibri" pitchFamily="34" charset="0"/>
                <a:ea typeface="Calibri" pitchFamily="34" charset="-122"/>
                <a:cs typeface="Calibri" pitchFamily="34" charset="-120"/>
              </a:rPr>
              <a:t>Colour = tilt</a:t>
            </a:r>
            <a:endParaRPr lang="en-US" sz="1350" dirty="0"/>
          </a:p>
        </p:txBody>
      </p:sp>
      <p:sp>
        <p:nvSpPr>
          <p:cNvPr id="23" name="Text 18"/>
          <p:cNvSpPr/>
          <p:nvPr/>
        </p:nvSpPr>
        <p:spPr>
          <a:xfrm>
            <a:off x="4572000" y="3529584"/>
            <a:ext cx="3063240" cy="658368"/>
          </a:xfrm>
          <a:prstGeom prst="rect">
            <a:avLst/>
          </a:prstGeom>
          <a:noFill/>
          <a:ln/>
        </p:spPr>
        <p:txBody>
          <a:bodyPr wrap="square" rtlCol="0" anchor="ctr"/>
          <a:lstStyle/>
          <a:p>
            <a:pPr marL="0" indent="0">
              <a:lnSpc>
                <a:spcPct val="114000"/>
              </a:lnSpc>
              <a:buNone/>
            </a:pPr>
            <a:r>
              <a:rPr lang="en-US" sz="1050" dirty="0">
                <a:solidFill>
                  <a:srgbClr val="A9B4D0"/>
                </a:solidFill>
                <a:latin typeface="Calibri" pitchFamily="34" charset="0"/>
                <a:ea typeface="Calibri" pitchFamily="34" charset="-122"/>
                <a:cs typeface="Calibri" pitchFamily="34" charset="-120"/>
              </a:rPr>
              <a:t>Red runs empty, blue runs full, on a –15 to +15 scale.</a:t>
            </a:r>
            <a:endParaRPr lang="en-US" sz="1050" dirty="0"/>
          </a:p>
        </p:txBody>
      </p:sp>
      <p:sp>
        <p:nvSpPr>
          <p:cNvPr id="24" name="Shape 19"/>
          <p:cNvSpPr/>
          <p:nvPr/>
        </p:nvSpPr>
        <p:spPr>
          <a:xfrm>
            <a:off x="8065008" y="2852928"/>
            <a:ext cx="3566160" cy="1481328"/>
          </a:xfrm>
          <a:prstGeom prst="roundRect">
            <a:avLst>
              <a:gd name="adj" fmla="val 3395"/>
            </a:avLst>
          </a:prstGeom>
          <a:solidFill>
            <a:srgbClr val="0E1030">
              <a:alpha val="82000"/>
            </a:srgbClr>
          </a:solidFill>
          <a:ln w="22225">
            <a:solidFill>
              <a:srgbClr val="7B2FF7"/>
            </a:solidFill>
            <a:prstDash val="solid"/>
          </a:ln>
        </p:spPr>
        <p:txBody>
          <a:bodyPr/>
          <a:lstStyle/>
          <a:p>
            <a:endParaRPr lang="en-GB"/>
          </a:p>
        </p:txBody>
      </p:sp>
      <p:sp>
        <p:nvSpPr>
          <p:cNvPr id="25" name="Shape 20"/>
          <p:cNvSpPr/>
          <p:nvPr/>
        </p:nvSpPr>
        <p:spPr>
          <a:xfrm>
            <a:off x="8321040" y="3044952"/>
            <a:ext cx="420624" cy="420624"/>
          </a:xfrm>
          <a:prstGeom prst="ellipse">
            <a:avLst/>
          </a:prstGeom>
          <a:solidFill>
            <a:srgbClr val="0A0A18"/>
          </a:solidFill>
          <a:ln/>
        </p:spPr>
        <p:txBody>
          <a:bodyPr/>
          <a:lstStyle/>
          <a:p>
            <a:endParaRPr lang="en-GB"/>
          </a:p>
        </p:txBody>
      </p:sp>
      <p:pic>
        <p:nvPicPr>
          <p:cNvPr id="26" name="Image 3" descr="assets/icon_bike_7B2FF7.png"/>
          <p:cNvPicPr>
            <a:picLocks noChangeAspect="1"/>
          </p:cNvPicPr>
          <p:nvPr/>
        </p:nvPicPr>
        <p:blipFill>
          <a:blip r:embed="rId6"/>
          <a:stretch>
            <a:fillRect/>
          </a:stretch>
        </p:blipFill>
        <p:spPr>
          <a:xfrm>
            <a:off x="8434608" y="3158520"/>
            <a:ext cx="193487" cy="193487"/>
          </a:xfrm>
          <a:prstGeom prst="rect">
            <a:avLst/>
          </a:prstGeom>
        </p:spPr>
      </p:pic>
      <p:sp>
        <p:nvSpPr>
          <p:cNvPr id="27" name="Text 21"/>
          <p:cNvSpPr/>
          <p:nvPr/>
        </p:nvSpPr>
        <p:spPr>
          <a:xfrm>
            <a:off x="8869680" y="3072384"/>
            <a:ext cx="2606040" cy="292608"/>
          </a:xfrm>
          <a:prstGeom prst="rect">
            <a:avLst/>
          </a:prstGeom>
          <a:noFill/>
          <a:ln/>
        </p:spPr>
        <p:txBody>
          <a:bodyPr wrap="square" rtlCol="0" anchor="ctr"/>
          <a:lstStyle/>
          <a:p>
            <a:pPr marL="0" indent="0">
              <a:buNone/>
            </a:pPr>
            <a:r>
              <a:rPr lang="en-US" sz="1350" b="1" dirty="0">
                <a:solidFill>
                  <a:srgbClr val="7B2FF7"/>
                </a:solidFill>
                <a:latin typeface="Calibri" pitchFamily="34" charset="0"/>
                <a:ea typeface="Calibri" pitchFamily="34" charset="-122"/>
                <a:cs typeface="Calibri" pitchFamily="34" charset="-120"/>
              </a:rPr>
              <a:t>Size = severity</a:t>
            </a:r>
            <a:endParaRPr lang="en-US" sz="1350" dirty="0"/>
          </a:p>
        </p:txBody>
      </p:sp>
      <p:sp>
        <p:nvSpPr>
          <p:cNvPr id="28" name="Text 22"/>
          <p:cNvSpPr/>
          <p:nvPr/>
        </p:nvSpPr>
        <p:spPr>
          <a:xfrm>
            <a:off x="8321040" y="3529584"/>
            <a:ext cx="3063240" cy="658368"/>
          </a:xfrm>
          <a:prstGeom prst="rect">
            <a:avLst/>
          </a:prstGeom>
          <a:noFill/>
          <a:ln/>
        </p:spPr>
        <p:txBody>
          <a:bodyPr wrap="square" rtlCol="0" anchor="ctr"/>
          <a:lstStyle/>
          <a:p>
            <a:pPr marL="0" indent="0">
              <a:lnSpc>
                <a:spcPct val="114000"/>
              </a:lnSpc>
              <a:buNone/>
            </a:pPr>
            <a:r>
              <a:rPr lang="en-US" sz="1050" dirty="0">
                <a:solidFill>
                  <a:srgbClr val="A9B4D0"/>
                </a:solidFill>
                <a:latin typeface="Calibri" pitchFamily="34" charset="0"/>
                <a:ea typeface="Calibri" pitchFamily="34" charset="-122"/>
                <a:cs typeface="Calibri" pitchFamily="34" charset="-120"/>
              </a:rPr>
              <a:t>Bigger circle, higher combined empty + full rate.</a:t>
            </a:r>
            <a:endParaRPr lang="en-US" sz="1050" dirty="0"/>
          </a:p>
        </p:txBody>
      </p:sp>
      <p:sp>
        <p:nvSpPr>
          <p:cNvPr id="29" name="Text 23"/>
          <p:cNvSpPr/>
          <p:nvPr/>
        </p:nvSpPr>
        <p:spPr>
          <a:xfrm>
            <a:off x="566928" y="4590288"/>
            <a:ext cx="11064240" cy="384048"/>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Click any station and the popup gives its elevation, empty rate, full rate and dominant failure type.</a:t>
            </a:r>
            <a:endParaRPr lang="en-US" sz="1300" dirty="0"/>
          </a:p>
        </p:txBody>
      </p:sp>
      <p:sp>
        <p:nvSpPr>
          <p:cNvPr id="30" name="Shape 24">
            <a:hlinkClick r:id="rId7"/>
          </p:cNvPr>
          <p:cNvSpPr/>
          <p:nvPr/>
        </p:nvSpPr>
        <p:spPr>
          <a:xfrm>
            <a:off x="4041648" y="5138928"/>
            <a:ext cx="4114800" cy="566928"/>
          </a:xfrm>
          <a:prstGeom prst="roundRect">
            <a:avLst>
              <a:gd name="adj" fmla="val 17742"/>
            </a:avLst>
          </a:prstGeom>
          <a:solidFill>
            <a:srgbClr val="22D3EE">
              <a:alpha val="45000"/>
            </a:srgbClr>
          </a:solidFill>
          <a:ln w="22225">
            <a:solidFill>
              <a:srgbClr val="22D3EE"/>
            </a:solidFill>
            <a:prstDash val="solid"/>
          </a:ln>
        </p:spPr>
        <p:txBody>
          <a:bodyPr/>
          <a:lstStyle/>
          <a:p>
            <a:endParaRPr lang="en-GB"/>
          </a:p>
        </p:txBody>
      </p:sp>
      <p:sp>
        <p:nvSpPr>
          <p:cNvPr id="31" name="Text 25"/>
          <p:cNvSpPr/>
          <p:nvPr/>
        </p:nvSpPr>
        <p:spPr>
          <a:xfrm>
            <a:off x="4041648" y="5138928"/>
            <a:ext cx="4114800" cy="566928"/>
          </a:xfrm>
          <a:prstGeom prst="rect">
            <a:avLst/>
          </a:prstGeom>
          <a:noFill/>
          <a:ln/>
        </p:spPr>
        <p:txBody>
          <a:bodyPr wrap="square" rtlCol="0" anchor="ctr"/>
          <a:lstStyle/>
          <a:p>
            <a:pPr marL="0" indent="0" algn="ctr">
              <a:buNone/>
            </a:pPr>
            <a:r>
              <a:rPr lang="en-US" sz="1300" b="1" u="sng" dirty="0">
                <a:solidFill>
                  <a:schemeClr val="bg1"/>
                </a:solidFill>
                <a:latin typeface="Calibri" pitchFamily="34" charset="0"/>
                <a:ea typeface="Calibri" pitchFamily="34" charset="-122"/>
                <a:cs typeface="Calibri" pitchFamily="34" charset="-120"/>
                <a:hlinkClick r:id="rId7">
                  <a:extLst>
                    <a:ext uri="{A12FA001-AC4F-418D-AE19-62706E023703}">
                      <ahyp:hlinkClr xmlns:ahyp="http://schemas.microsoft.com/office/drawing/2018/hyperlinkcolor" val="tx"/>
                    </a:ext>
                  </a:extLst>
                </a:hlinkClick>
              </a:rPr>
              <a:t>▶  Open the interactive map</a:t>
            </a:r>
            <a:endParaRPr lang="en-US" sz="1300" dirty="0">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15</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E930D8"/>
                </a:solidFill>
                <a:latin typeface="Calibri" pitchFamily="34" charset="0"/>
                <a:ea typeface="Calibri" pitchFamily="34" charset="-122"/>
                <a:cs typeface="Calibri" pitchFamily="34" charset="-120"/>
              </a:rPr>
              <a:t>SQ3 · WHAT SHOULD EMEL DO FIRST?</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The priority list: where and when to deliver bikes</a:t>
            </a:r>
            <a:endParaRPr lang="en-US" sz="3400" dirty="0"/>
          </a:p>
        </p:txBody>
      </p:sp>
      <p:sp>
        <p:nvSpPr>
          <p:cNvPr id="13" name="Shape 10"/>
          <p:cNvSpPr/>
          <p:nvPr/>
        </p:nvSpPr>
        <p:spPr>
          <a:xfrm>
            <a:off x="466344" y="2231136"/>
            <a:ext cx="8705088" cy="4233672"/>
          </a:xfrm>
          <a:prstGeom prst="roundRect">
            <a:avLst>
              <a:gd name="adj" fmla="val 1080"/>
            </a:avLst>
          </a:prstGeom>
          <a:solidFill>
            <a:srgbClr val="0E1030">
              <a:alpha val="58000"/>
            </a:srgbClr>
          </a:solidFill>
          <a:ln w="15875">
            <a:solidFill>
              <a:srgbClr val="22D3EE"/>
            </a:solidFill>
            <a:prstDash val="solid"/>
          </a:ln>
        </p:spPr>
        <p:txBody>
          <a:bodyPr/>
          <a:lstStyle/>
          <a:p>
            <a:endParaRPr lang="en-GB"/>
          </a:p>
        </p:txBody>
      </p:sp>
      <p:pic>
        <p:nvPicPr>
          <p:cNvPr id="14" name="Image 1" descr="assets/chart_heat_empty.png"/>
          <p:cNvPicPr>
            <a:picLocks noChangeAspect="1"/>
          </p:cNvPicPr>
          <p:nvPr/>
        </p:nvPicPr>
        <p:blipFill>
          <a:blip r:embed="rId4"/>
          <a:stretch>
            <a:fillRect/>
          </a:stretch>
        </p:blipFill>
        <p:spPr>
          <a:xfrm>
            <a:off x="566928" y="2331720"/>
            <a:ext cx="8503920" cy="4032504"/>
          </a:xfrm>
          <a:prstGeom prst="rect">
            <a:avLst/>
          </a:prstGeom>
        </p:spPr>
      </p:pic>
      <p:sp>
        <p:nvSpPr>
          <p:cNvPr id="15" name="Shape 11"/>
          <p:cNvSpPr/>
          <p:nvPr/>
        </p:nvSpPr>
        <p:spPr>
          <a:xfrm>
            <a:off x="9418320" y="2212848"/>
            <a:ext cx="2221992" cy="4023360"/>
          </a:xfrm>
          <a:prstGeom prst="roundRect">
            <a:avLst>
              <a:gd name="adj" fmla="val 2263"/>
            </a:avLst>
          </a:prstGeom>
          <a:solidFill>
            <a:srgbClr val="0E1030">
              <a:alpha val="82000"/>
            </a:srgbClr>
          </a:solidFill>
          <a:ln w="22225">
            <a:solidFill>
              <a:srgbClr val="E930D8"/>
            </a:solidFill>
            <a:prstDash val="solid"/>
          </a:ln>
        </p:spPr>
        <p:txBody>
          <a:bodyPr/>
          <a:lstStyle/>
          <a:p>
            <a:endParaRPr lang="en-GB"/>
          </a:p>
        </p:txBody>
      </p:sp>
      <p:sp>
        <p:nvSpPr>
          <p:cNvPr id="16" name="Text 12"/>
          <p:cNvSpPr/>
          <p:nvPr/>
        </p:nvSpPr>
        <p:spPr>
          <a:xfrm>
            <a:off x="9646920" y="2377440"/>
            <a:ext cx="1828800" cy="274320"/>
          </a:xfrm>
          <a:prstGeom prst="rect">
            <a:avLst/>
          </a:prstGeom>
          <a:noFill/>
          <a:ln/>
        </p:spPr>
        <p:txBody>
          <a:bodyPr wrap="square" rtlCol="0" anchor="ctr"/>
          <a:lstStyle/>
          <a:p>
            <a:pPr marL="0" indent="0">
              <a:buNone/>
            </a:pPr>
            <a:r>
              <a:rPr lang="en-US" sz="1000" b="1" kern="0" spc="100" dirty="0">
                <a:solidFill>
                  <a:srgbClr val="E930D8"/>
                </a:solidFill>
                <a:latin typeface="Calibri" pitchFamily="34" charset="0"/>
                <a:ea typeface="Calibri" pitchFamily="34" charset="-122"/>
                <a:cs typeface="Calibri" pitchFamily="34" charset="-120"/>
              </a:rPr>
              <a:t>TOP PRIORITY</a:t>
            </a:r>
            <a:endParaRPr lang="en-US" sz="1000" dirty="0"/>
          </a:p>
        </p:txBody>
      </p:sp>
      <p:sp>
        <p:nvSpPr>
          <p:cNvPr id="17" name="Text 13"/>
          <p:cNvSpPr/>
          <p:nvPr/>
        </p:nvSpPr>
        <p:spPr>
          <a:xfrm>
            <a:off x="9646920" y="2688336"/>
            <a:ext cx="1828800" cy="502920"/>
          </a:xfrm>
          <a:prstGeom prst="rect">
            <a:avLst/>
          </a:prstGeom>
          <a:noFill/>
          <a:ln/>
        </p:spPr>
        <p:txBody>
          <a:bodyPr wrap="square" rtlCol="0" anchor="ctr"/>
          <a:lstStyle/>
          <a:p>
            <a:pPr marL="0" indent="0">
              <a:buNone/>
            </a:pPr>
            <a:r>
              <a:rPr lang="en-US" sz="2700" b="1" dirty="0">
                <a:solidFill>
                  <a:srgbClr val="FFFFFF"/>
                </a:solidFill>
                <a:latin typeface="Trebuchet MS" pitchFamily="34" charset="0"/>
                <a:ea typeface="Trebuchet MS" pitchFamily="34" charset="-122"/>
                <a:cs typeface="Trebuchet MS" pitchFamily="34" charset="-120"/>
              </a:rPr>
              <a:t>519</a:t>
            </a:r>
            <a:endParaRPr lang="en-US" sz="2700" dirty="0"/>
          </a:p>
        </p:txBody>
      </p:sp>
      <p:sp>
        <p:nvSpPr>
          <p:cNvPr id="18" name="Text 14"/>
          <p:cNvSpPr/>
          <p:nvPr/>
        </p:nvSpPr>
        <p:spPr>
          <a:xfrm>
            <a:off x="9646920" y="3200400"/>
            <a:ext cx="1874520" cy="960120"/>
          </a:xfrm>
          <a:prstGeom prst="rect">
            <a:avLst/>
          </a:prstGeom>
          <a:noFill/>
          <a:ln/>
        </p:spPr>
        <p:txBody>
          <a:bodyPr wrap="square" rtlCol="0" anchor="ctr"/>
          <a:lstStyle/>
          <a:p>
            <a:pPr marL="0" indent="0">
              <a:lnSpc>
                <a:spcPct val="115000"/>
              </a:lnSpc>
              <a:buNone/>
            </a:pPr>
            <a:r>
              <a:rPr lang="en-US" sz="950" dirty="0">
                <a:solidFill>
                  <a:srgbClr val="A9B4D0"/>
                </a:solidFill>
                <a:latin typeface="Calibri" pitchFamily="34" charset="0"/>
                <a:ea typeface="Calibri" pitchFamily="34" charset="-122"/>
                <a:cs typeface="Calibri" pitchFamily="34" charset="-120"/>
              </a:rPr>
              <a:t>Rua Prof. Pulido Valente, 09:00, 33.3% empty</a:t>
            </a:r>
            <a:endParaRPr lang="en-US" sz="950" dirty="0"/>
          </a:p>
        </p:txBody>
      </p:sp>
      <p:sp>
        <p:nvSpPr>
          <p:cNvPr id="19" name="Text 15"/>
          <p:cNvSpPr/>
          <p:nvPr/>
        </p:nvSpPr>
        <p:spPr>
          <a:xfrm>
            <a:off x="9646920" y="4297680"/>
            <a:ext cx="1874520" cy="1828800"/>
          </a:xfrm>
          <a:prstGeom prst="rect">
            <a:avLst/>
          </a:prstGeom>
          <a:noFill/>
          <a:ln/>
        </p:spPr>
        <p:txBody>
          <a:bodyPr wrap="square" rtlCol="0" anchor="ctr"/>
          <a:lstStyle/>
          <a:p>
            <a:pPr marL="0" indent="0">
              <a:lnSpc>
                <a:spcPct val="118000"/>
              </a:lnSpc>
              <a:buNone/>
            </a:pPr>
            <a:r>
              <a:rPr lang="en-US" sz="900" i="1" dirty="0">
                <a:solidFill>
                  <a:srgbClr val="6F7BA0"/>
                </a:solidFill>
                <a:latin typeface="Calibri" pitchFamily="34" charset="0"/>
                <a:ea typeface="Calibri" pitchFamily="34" charset="-122"/>
                <a:cs typeface="Calibri" pitchFamily="34" charset="-120"/>
              </a:rPr>
              <a:t>Priority = failure severity × a commute-shaped demand curve. The curve is fixed, not data-derived. Deriving demand from the same data would be circular with the failure rate itself.</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16</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E930D8"/>
                </a:solidFill>
                <a:latin typeface="Calibri" pitchFamily="34" charset="0"/>
                <a:ea typeface="Calibri" pitchFamily="34" charset="-122"/>
                <a:cs typeface="Calibri" pitchFamily="34" charset="-120"/>
              </a:rPr>
              <a:t>SQ3 · WHAT SHOULD EMEL DO FIRST?</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...and where to collect, paired into short van loops</a:t>
            </a:r>
            <a:endParaRPr lang="en-US" sz="3400" dirty="0"/>
          </a:p>
        </p:txBody>
      </p:sp>
      <p:sp>
        <p:nvSpPr>
          <p:cNvPr id="13" name="Shape 10"/>
          <p:cNvSpPr/>
          <p:nvPr/>
        </p:nvSpPr>
        <p:spPr>
          <a:xfrm>
            <a:off x="466344" y="2231136"/>
            <a:ext cx="7927848" cy="3856025"/>
          </a:xfrm>
          <a:prstGeom prst="roundRect">
            <a:avLst>
              <a:gd name="adj" fmla="val 1186"/>
            </a:avLst>
          </a:prstGeom>
          <a:solidFill>
            <a:srgbClr val="0E1030">
              <a:alpha val="58000"/>
            </a:srgbClr>
          </a:solidFill>
          <a:ln w="15875">
            <a:solidFill>
              <a:srgbClr val="22D3EE"/>
            </a:solidFill>
            <a:prstDash val="solid"/>
          </a:ln>
        </p:spPr>
        <p:txBody>
          <a:bodyPr/>
          <a:lstStyle/>
          <a:p>
            <a:endParaRPr lang="en-GB"/>
          </a:p>
        </p:txBody>
      </p:sp>
      <p:pic>
        <p:nvPicPr>
          <p:cNvPr id="14" name="Image 1" descr="assets/chart_heat_full.png"/>
          <p:cNvPicPr>
            <a:picLocks noChangeAspect="1"/>
          </p:cNvPicPr>
          <p:nvPr/>
        </p:nvPicPr>
        <p:blipFill>
          <a:blip r:embed="rId4"/>
          <a:stretch>
            <a:fillRect/>
          </a:stretch>
        </p:blipFill>
        <p:spPr>
          <a:xfrm>
            <a:off x="566928" y="2331720"/>
            <a:ext cx="7726680" cy="3654857"/>
          </a:xfrm>
          <a:prstGeom prst="rect">
            <a:avLst/>
          </a:prstGeom>
        </p:spPr>
      </p:pic>
      <p:sp>
        <p:nvSpPr>
          <p:cNvPr id="15" name="Shape 11"/>
          <p:cNvSpPr/>
          <p:nvPr/>
        </p:nvSpPr>
        <p:spPr>
          <a:xfrm>
            <a:off x="8641080" y="2212848"/>
            <a:ext cx="2999232" cy="4114800"/>
          </a:xfrm>
          <a:prstGeom prst="roundRect">
            <a:avLst>
              <a:gd name="adj" fmla="val 1677"/>
            </a:avLst>
          </a:prstGeom>
          <a:solidFill>
            <a:srgbClr val="0E1030">
              <a:alpha val="82000"/>
            </a:srgbClr>
          </a:solidFill>
          <a:ln w="22225">
            <a:solidFill>
              <a:srgbClr val="22D3EE"/>
            </a:solidFill>
            <a:prstDash val="solid"/>
          </a:ln>
        </p:spPr>
        <p:txBody>
          <a:bodyPr/>
          <a:lstStyle/>
          <a:p>
            <a:endParaRPr lang="en-GB"/>
          </a:p>
        </p:txBody>
      </p:sp>
      <p:pic>
        <p:nvPicPr>
          <p:cNvPr id="16" name="Image 2" descr="assets/icon_bike_22D3EE.png"/>
          <p:cNvPicPr>
            <a:picLocks noChangeAspect="1"/>
          </p:cNvPicPr>
          <p:nvPr/>
        </p:nvPicPr>
        <p:blipFill>
          <a:blip r:embed="rId5"/>
          <a:stretch>
            <a:fillRect/>
          </a:stretch>
        </p:blipFill>
        <p:spPr>
          <a:xfrm>
            <a:off x="11018520" y="2331720"/>
            <a:ext cx="384048" cy="384048"/>
          </a:xfrm>
          <a:prstGeom prst="rect">
            <a:avLst/>
          </a:prstGeom>
        </p:spPr>
      </p:pic>
      <p:sp>
        <p:nvSpPr>
          <p:cNvPr id="17" name="Text 12"/>
          <p:cNvSpPr/>
          <p:nvPr/>
        </p:nvSpPr>
        <p:spPr>
          <a:xfrm>
            <a:off x="8869680" y="2377440"/>
            <a:ext cx="2560320" cy="274320"/>
          </a:xfrm>
          <a:prstGeom prst="rect">
            <a:avLst/>
          </a:prstGeom>
          <a:noFill/>
          <a:ln/>
        </p:spPr>
        <p:txBody>
          <a:bodyPr wrap="square" rtlCol="0" anchor="ctr"/>
          <a:lstStyle/>
          <a:p>
            <a:pPr marL="0" indent="0">
              <a:buNone/>
            </a:pPr>
            <a:r>
              <a:rPr lang="en-US" sz="1050" b="1" kern="0" spc="100" dirty="0">
                <a:solidFill>
                  <a:srgbClr val="22D3EE"/>
                </a:solidFill>
                <a:latin typeface="Calibri" pitchFamily="34" charset="0"/>
                <a:ea typeface="Calibri" pitchFamily="34" charset="-122"/>
                <a:cs typeface="Calibri" pitchFamily="34" charset="-120"/>
              </a:rPr>
              <a:t>SAMPLE VAN LOOP</a:t>
            </a:r>
            <a:endParaRPr lang="en-US" sz="1050" dirty="0"/>
          </a:p>
        </p:txBody>
      </p:sp>
      <p:sp>
        <p:nvSpPr>
          <p:cNvPr id="18" name="Text 13"/>
          <p:cNvSpPr/>
          <p:nvPr/>
        </p:nvSpPr>
        <p:spPr>
          <a:xfrm>
            <a:off x="8869680" y="2688336"/>
            <a:ext cx="2560320" cy="1645920"/>
          </a:xfrm>
          <a:prstGeom prst="rect">
            <a:avLst/>
          </a:prstGeom>
          <a:noFill/>
          <a:ln/>
        </p:spPr>
        <p:txBody>
          <a:bodyPr wrap="square" rtlCol="0" anchor="ctr"/>
          <a:lstStyle/>
          <a:p>
            <a:pPr marL="0" indent="0">
              <a:lnSpc>
                <a:spcPct val="115000"/>
              </a:lnSpc>
              <a:buNone/>
            </a:pPr>
            <a:r>
              <a:rPr lang="en-US" sz="1050" b="1" dirty="0">
                <a:solidFill>
                  <a:srgbClr val="22D3EE"/>
                </a:solidFill>
                <a:latin typeface="Calibri" pitchFamily="34" charset="0"/>
                <a:ea typeface="Calibri" pitchFamily="34" charset="-122"/>
                <a:cs typeface="Calibri" pitchFamily="34" charset="-120"/>
              </a:rPr>
              <a:t>COLLECT</a:t>
            </a:r>
            <a:endParaRPr lang="en-US" sz="1050" dirty="0"/>
          </a:p>
          <a:p>
            <a:pPr marL="0" indent="0">
              <a:lnSpc>
                <a:spcPct val="115000"/>
              </a:lnSpc>
              <a:spcAft>
                <a:spcPts val="600"/>
              </a:spcAft>
              <a:buNone/>
            </a:pPr>
            <a:r>
              <a:rPr lang="en-US" sz="1050" dirty="0">
                <a:solidFill>
                  <a:srgbClr val="FFFFFF"/>
                </a:solidFill>
                <a:latin typeface="Calibri" pitchFamily="34" charset="0"/>
                <a:ea typeface="Calibri" pitchFamily="34" charset="-122"/>
                <a:cs typeface="Calibri" pitchFamily="34" charset="-120"/>
              </a:rPr>
              <a:t>309 – Rua da Palma  (18:00, 31 m)</a:t>
            </a:r>
            <a:endParaRPr lang="en-US" sz="1050" dirty="0"/>
          </a:p>
          <a:p>
            <a:pPr marL="0" indent="0">
              <a:lnSpc>
                <a:spcPct val="115000"/>
              </a:lnSpc>
              <a:spcAft>
                <a:spcPts val="600"/>
              </a:spcAft>
              <a:buNone/>
            </a:pPr>
            <a:r>
              <a:rPr lang="en-US" sz="950" i="1" dirty="0">
                <a:solidFill>
                  <a:srgbClr val="E930D8"/>
                </a:solidFill>
                <a:latin typeface="Calibri" pitchFamily="34" charset="0"/>
                <a:ea typeface="Calibri" pitchFamily="34" charset="-122"/>
                <a:cs typeface="Calibri" pitchFamily="34" charset="-120"/>
              </a:rPr>
              <a:t>↑ van climbs +48 m ↑</a:t>
            </a:r>
            <a:endParaRPr lang="en-US" sz="1050" dirty="0"/>
          </a:p>
          <a:p>
            <a:pPr marL="0" indent="0">
              <a:lnSpc>
                <a:spcPct val="115000"/>
              </a:lnSpc>
              <a:buNone/>
            </a:pPr>
            <a:r>
              <a:rPr lang="en-US" sz="1050" b="1" dirty="0">
                <a:solidFill>
                  <a:srgbClr val="E930D8"/>
                </a:solidFill>
                <a:latin typeface="Calibri" pitchFamily="34" charset="0"/>
                <a:ea typeface="Calibri" pitchFamily="34" charset="-122"/>
                <a:cs typeface="Calibri" pitchFamily="34" charset="-120"/>
              </a:rPr>
              <a:t>DELIVER</a:t>
            </a:r>
            <a:endParaRPr lang="en-US" sz="1050" dirty="0"/>
          </a:p>
          <a:p>
            <a:pPr marL="0" indent="0">
              <a:lnSpc>
                <a:spcPct val="115000"/>
              </a:lnSpc>
              <a:buNone/>
            </a:pPr>
            <a:r>
              <a:rPr lang="en-US" sz="1050" dirty="0">
                <a:solidFill>
                  <a:srgbClr val="FFFFFF"/>
                </a:solidFill>
                <a:latin typeface="Calibri" pitchFamily="34" charset="0"/>
                <a:ea typeface="Calibri" pitchFamily="34" charset="-122"/>
                <a:cs typeface="Calibri" pitchFamily="34" charset="-120"/>
              </a:rPr>
              <a:t>407 – Pça. Duque de Saldanha  (18:00, 79 m)</a:t>
            </a:r>
            <a:endParaRPr lang="en-US" sz="1050" dirty="0"/>
          </a:p>
        </p:txBody>
      </p:sp>
      <p:sp>
        <p:nvSpPr>
          <p:cNvPr id="19" name="Shape 14"/>
          <p:cNvSpPr/>
          <p:nvPr/>
        </p:nvSpPr>
        <p:spPr>
          <a:xfrm>
            <a:off x="8869680" y="4407408"/>
            <a:ext cx="2560320" cy="0"/>
          </a:xfrm>
          <a:prstGeom prst="line">
            <a:avLst/>
          </a:prstGeom>
          <a:noFill/>
          <a:ln w="12700">
            <a:solidFill>
              <a:srgbClr val="2A3560"/>
            </a:solidFill>
            <a:prstDash val="solid"/>
          </a:ln>
        </p:spPr>
        <p:txBody>
          <a:bodyPr/>
          <a:lstStyle/>
          <a:p>
            <a:endParaRPr lang="en-GB"/>
          </a:p>
        </p:txBody>
      </p:sp>
      <p:sp>
        <p:nvSpPr>
          <p:cNvPr id="20" name="Text 15"/>
          <p:cNvSpPr/>
          <p:nvPr/>
        </p:nvSpPr>
        <p:spPr>
          <a:xfrm>
            <a:off x="8869680" y="4553712"/>
            <a:ext cx="2560320" cy="1051560"/>
          </a:xfrm>
          <a:prstGeom prst="rect">
            <a:avLst/>
          </a:prstGeom>
          <a:noFill/>
          <a:ln/>
        </p:spPr>
        <p:txBody>
          <a:bodyPr wrap="square" rtlCol="0" anchor="ctr"/>
          <a:lstStyle/>
          <a:p>
            <a:pPr marL="0" indent="0">
              <a:lnSpc>
                <a:spcPct val="118000"/>
              </a:lnSpc>
              <a:spcAft>
                <a:spcPts val="400"/>
              </a:spcAft>
              <a:buNone/>
            </a:pPr>
            <a:r>
              <a:rPr lang="en-US" sz="1050" b="1" dirty="0">
                <a:solidFill>
                  <a:srgbClr val="FFFFFF"/>
                </a:solidFill>
                <a:latin typeface="Calibri" pitchFamily="34" charset="0"/>
                <a:ea typeface="Calibri" pitchFamily="34" charset="-122"/>
                <a:cs typeface="Calibri" pitchFamily="34" charset="-120"/>
              </a:rPr>
              <a:t>The shortest hop:</a:t>
            </a:r>
            <a:endParaRPr lang="en-US" sz="1050" dirty="0"/>
          </a:p>
          <a:p>
            <a:pPr marL="0" indent="0">
              <a:lnSpc>
                <a:spcPct val="118000"/>
              </a:lnSpc>
              <a:spcAft>
                <a:spcPts val="400"/>
              </a:spcAft>
              <a:buNone/>
            </a:pPr>
            <a:r>
              <a:rPr lang="en-US" sz="950" dirty="0">
                <a:solidFill>
                  <a:srgbClr val="A9B4D0"/>
                </a:solidFill>
                <a:latin typeface="Calibri" pitchFamily="34" charset="0"/>
                <a:ea typeface="Calibri" pitchFamily="34" charset="-122"/>
                <a:cs typeface="Calibri" pitchFamily="34" charset="-120"/>
              </a:rPr>
              <a:t>COLLECT 552 – Alameda das Linhas de Torres → DELIVER 519 – Pulido Valente</a:t>
            </a:r>
            <a:endParaRPr lang="en-US" sz="1050" dirty="0"/>
          </a:p>
          <a:p>
            <a:pPr marL="0" indent="0">
              <a:lnSpc>
                <a:spcPct val="118000"/>
              </a:lnSpc>
              <a:buNone/>
            </a:pPr>
            <a:r>
              <a:rPr lang="en-US" sz="1050" b="1" dirty="0">
                <a:solidFill>
                  <a:srgbClr val="22D3EE"/>
                </a:solidFill>
                <a:latin typeface="Calibri" pitchFamily="34" charset="0"/>
                <a:ea typeface="Calibri" pitchFamily="34" charset="-122"/>
                <a:cs typeface="Calibri" pitchFamily="34" charset="-120"/>
              </a:rPr>
              <a:t>only 1.07 km, +27 m of climb</a:t>
            </a:r>
            <a:endParaRPr lang="en-US" sz="1050" dirty="0"/>
          </a:p>
        </p:txBody>
      </p:sp>
      <p:sp>
        <p:nvSpPr>
          <p:cNvPr id="21" name="Text 16"/>
          <p:cNvSpPr/>
          <p:nvPr/>
        </p:nvSpPr>
        <p:spPr>
          <a:xfrm>
            <a:off x="8869680" y="5614416"/>
            <a:ext cx="2560320" cy="676656"/>
          </a:xfrm>
          <a:prstGeom prst="rect">
            <a:avLst/>
          </a:prstGeom>
          <a:noFill/>
          <a:ln/>
        </p:spPr>
        <p:txBody>
          <a:bodyPr wrap="square" rtlCol="0" anchor="ctr"/>
          <a:lstStyle/>
          <a:p>
            <a:pPr marL="0" indent="0">
              <a:lnSpc>
                <a:spcPct val="118000"/>
              </a:lnSpc>
              <a:buNone/>
            </a:pPr>
            <a:r>
              <a:rPr lang="en-US" sz="850" i="1" dirty="0">
                <a:solidFill>
                  <a:srgbClr val="6F7BA0"/>
                </a:solidFill>
                <a:latin typeface="Calibri" pitchFamily="34" charset="0"/>
                <a:ea typeface="Calibri" pitchFamily="34" charset="-122"/>
                <a:cs typeface="Calibri" pitchFamily="34" charset="-120"/>
              </a:rPr>
              <a:t>Each loop moves bikes from a low station that fills up to a higher one that runs dry. The van makes the climb riders won't.</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assets/bg_dark.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18</a:t>
            </a:r>
            <a:endParaRPr lang="en-US" sz="1200" dirty="0"/>
          </a:p>
        </p:txBody>
      </p:sp>
      <p:sp>
        <p:nvSpPr>
          <p:cNvPr id="11" name="Text 8"/>
          <p:cNvSpPr/>
          <p:nvPr/>
        </p:nvSpPr>
        <p:spPr>
          <a:xfrm>
            <a:off x="566928" y="896112"/>
            <a:ext cx="8229600" cy="274320"/>
          </a:xfrm>
          <a:prstGeom prst="rect">
            <a:avLst/>
          </a:prstGeom>
          <a:noFill/>
          <a:ln/>
        </p:spPr>
        <p:txBody>
          <a:bodyPr wrap="square" rtlCol="0" anchor="ctr"/>
          <a:lstStyle/>
          <a:p>
            <a:pPr marL="0" indent="0">
              <a:buNone/>
            </a:pPr>
            <a:r>
              <a:rPr lang="en-US" sz="1150" b="1" kern="0" spc="220" dirty="0">
                <a:solidFill>
                  <a:srgbClr val="22D3EE"/>
                </a:solidFill>
                <a:latin typeface="Calibri" pitchFamily="34" charset="0"/>
                <a:ea typeface="Calibri" pitchFamily="34" charset="-122"/>
                <a:cs typeface="Calibri" pitchFamily="34" charset="-120"/>
              </a:rPr>
              <a:t>CONCLUSIONS &amp; RECOMMENDATIONS</a:t>
            </a:r>
            <a:endParaRPr lang="en-US" sz="1150" dirty="0"/>
          </a:p>
        </p:txBody>
      </p:sp>
      <p:sp>
        <p:nvSpPr>
          <p:cNvPr id="12" name="Text 9"/>
          <p:cNvSpPr/>
          <p:nvPr/>
        </p:nvSpPr>
        <p:spPr>
          <a:xfrm>
            <a:off x="566928" y="1170432"/>
            <a:ext cx="11064240" cy="1051560"/>
          </a:xfrm>
          <a:prstGeom prst="rect">
            <a:avLst/>
          </a:prstGeom>
          <a:noFill/>
          <a:ln/>
        </p:spPr>
        <p:txBody>
          <a:bodyPr wrap="square" rtlCol="0" anchor="ctr"/>
          <a:lstStyle/>
          <a:p>
            <a:pPr marL="0" indent="0">
              <a:lnSpc>
                <a:spcPct val="102000"/>
              </a:lnSpc>
              <a:buNone/>
            </a:pPr>
            <a:r>
              <a:rPr lang="en-US" sz="3400" b="1" dirty="0">
                <a:solidFill>
                  <a:srgbClr val="FFFFFF"/>
                </a:solidFill>
                <a:latin typeface="Trebuchet MS" pitchFamily="34" charset="0"/>
                <a:ea typeface="Trebuchet MS" pitchFamily="34" charset="-122"/>
                <a:cs typeface="Trebuchet MS" pitchFamily="34" charset="-120"/>
              </a:rPr>
              <a:t>What EMEL should do with this</a:t>
            </a:r>
            <a:endParaRPr lang="en-US" sz="3400" dirty="0"/>
          </a:p>
        </p:txBody>
      </p:sp>
      <p:pic>
        <p:nvPicPr>
          <p:cNvPr id="13" name="Image 1" descr="assets/icon_bike_1C2242.png"/>
          <p:cNvPicPr>
            <a:picLocks noChangeAspect="1"/>
          </p:cNvPicPr>
          <p:nvPr/>
        </p:nvPicPr>
        <p:blipFill>
          <a:blip r:embed="rId4"/>
          <a:stretch>
            <a:fillRect/>
          </a:stretch>
        </p:blipFill>
        <p:spPr>
          <a:xfrm>
            <a:off x="10424160" y="868680"/>
            <a:ext cx="1188720" cy="1188720"/>
          </a:xfrm>
          <a:prstGeom prst="rect">
            <a:avLst/>
          </a:prstGeom>
        </p:spPr>
      </p:pic>
      <p:sp>
        <p:nvSpPr>
          <p:cNvPr id="14" name="Shape 10"/>
          <p:cNvSpPr/>
          <p:nvPr/>
        </p:nvSpPr>
        <p:spPr>
          <a:xfrm>
            <a:off x="566928" y="2286000"/>
            <a:ext cx="5440680" cy="1234440"/>
          </a:xfrm>
          <a:prstGeom prst="roundRect">
            <a:avLst>
              <a:gd name="adj" fmla="val 4074"/>
            </a:avLst>
          </a:prstGeom>
          <a:solidFill>
            <a:srgbClr val="0E1030">
              <a:alpha val="82000"/>
            </a:srgbClr>
          </a:solidFill>
          <a:ln w="22225">
            <a:solidFill>
              <a:srgbClr val="22D3EE"/>
            </a:solidFill>
            <a:prstDash val="solid"/>
          </a:ln>
        </p:spPr>
        <p:txBody>
          <a:bodyPr/>
          <a:lstStyle/>
          <a:p>
            <a:endParaRPr lang="en-GB"/>
          </a:p>
        </p:txBody>
      </p:sp>
      <p:sp>
        <p:nvSpPr>
          <p:cNvPr id="15" name="Shape 11"/>
          <p:cNvSpPr/>
          <p:nvPr/>
        </p:nvSpPr>
        <p:spPr>
          <a:xfrm>
            <a:off x="768096" y="2468880"/>
            <a:ext cx="420624" cy="420624"/>
          </a:xfrm>
          <a:prstGeom prst="ellipse">
            <a:avLst/>
          </a:prstGeom>
          <a:solidFill>
            <a:srgbClr val="22D3EE"/>
          </a:solidFill>
          <a:ln/>
        </p:spPr>
        <p:txBody>
          <a:bodyPr/>
          <a:lstStyle/>
          <a:p>
            <a:endParaRPr lang="en-GB"/>
          </a:p>
        </p:txBody>
      </p:sp>
      <p:sp>
        <p:nvSpPr>
          <p:cNvPr id="16" name="Text 12"/>
          <p:cNvSpPr/>
          <p:nvPr/>
        </p:nvSpPr>
        <p:spPr>
          <a:xfrm>
            <a:off x="768096" y="2468880"/>
            <a:ext cx="420624" cy="420624"/>
          </a:xfrm>
          <a:prstGeom prst="rect">
            <a:avLst/>
          </a:prstGeom>
          <a:noFill/>
          <a:ln/>
        </p:spPr>
        <p:txBody>
          <a:bodyPr wrap="square" rtlCol="0" anchor="ctr"/>
          <a:lstStyle/>
          <a:p>
            <a:pPr marL="0" indent="0" algn="ctr">
              <a:buNone/>
            </a:pPr>
            <a:r>
              <a:rPr lang="en-US" sz="1500" b="1" dirty="0">
                <a:solidFill>
                  <a:srgbClr val="0A0A18"/>
                </a:solidFill>
                <a:latin typeface="Trebuchet MS" pitchFamily="34" charset="0"/>
                <a:ea typeface="Trebuchet MS" pitchFamily="34" charset="-122"/>
                <a:cs typeface="Trebuchet MS" pitchFamily="34" charset="-120"/>
              </a:rPr>
              <a:t>1</a:t>
            </a:r>
            <a:endParaRPr lang="en-US" sz="1500" dirty="0"/>
          </a:p>
        </p:txBody>
      </p:sp>
      <p:sp>
        <p:nvSpPr>
          <p:cNvPr id="17" name="Text 13"/>
          <p:cNvSpPr/>
          <p:nvPr/>
        </p:nvSpPr>
        <p:spPr>
          <a:xfrm>
            <a:off x="1353312" y="2414016"/>
            <a:ext cx="448056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Failures are concentrated</a:t>
            </a:r>
            <a:endParaRPr lang="en-US" sz="1250" dirty="0"/>
          </a:p>
        </p:txBody>
      </p:sp>
      <p:sp>
        <p:nvSpPr>
          <p:cNvPr id="18" name="Text 14"/>
          <p:cNvSpPr/>
          <p:nvPr/>
        </p:nvSpPr>
        <p:spPr>
          <a:xfrm>
            <a:off x="1353312" y="2743200"/>
            <a:ext cx="4480560" cy="694944"/>
          </a:xfrm>
          <a:prstGeom prst="rect">
            <a:avLst/>
          </a:prstGeom>
          <a:noFill/>
          <a:ln/>
        </p:spPr>
        <p:txBody>
          <a:bodyPr wrap="square" rtlCol="0" anchor="ctr"/>
          <a:lstStyle/>
          <a:p>
            <a:pPr marL="0" indent="0">
              <a:lnSpc>
                <a:spcPct val="116000"/>
              </a:lnSpc>
              <a:buNone/>
            </a:pPr>
            <a:r>
              <a:rPr lang="en-US" sz="1000" dirty="0">
                <a:solidFill>
                  <a:srgbClr val="A9B4D0"/>
                </a:solidFill>
                <a:latin typeface="Calibri" pitchFamily="34" charset="0"/>
                <a:ea typeface="Calibri" pitchFamily="34" charset="-122"/>
                <a:cs typeface="Calibri" pitchFamily="34" charset="-120"/>
              </a:rPr>
              <a:t>A handful of stations, at specific hours, drive most empty and full events, not a uniform citywide shortage.</a:t>
            </a:r>
            <a:endParaRPr lang="en-US" sz="1000" dirty="0"/>
          </a:p>
        </p:txBody>
      </p:sp>
      <p:sp>
        <p:nvSpPr>
          <p:cNvPr id="19" name="Shape 15"/>
          <p:cNvSpPr/>
          <p:nvPr/>
        </p:nvSpPr>
        <p:spPr>
          <a:xfrm>
            <a:off x="6190488" y="2286000"/>
            <a:ext cx="5440680" cy="1234440"/>
          </a:xfrm>
          <a:prstGeom prst="roundRect">
            <a:avLst>
              <a:gd name="adj" fmla="val 4074"/>
            </a:avLst>
          </a:prstGeom>
          <a:solidFill>
            <a:srgbClr val="0E1030">
              <a:alpha val="82000"/>
            </a:srgbClr>
          </a:solidFill>
          <a:ln w="22225">
            <a:solidFill>
              <a:srgbClr val="22D3EE"/>
            </a:solidFill>
            <a:prstDash val="solid"/>
          </a:ln>
        </p:spPr>
        <p:txBody>
          <a:bodyPr/>
          <a:lstStyle/>
          <a:p>
            <a:endParaRPr lang="en-GB"/>
          </a:p>
        </p:txBody>
      </p:sp>
      <p:sp>
        <p:nvSpPr>
          <p:cNvPr id="20" name="Shape 16"/>
          <p:cNvSpPr/>
          <p:nvPr/>
        </p:nvSpPr>
        <p:spPr>
          <a:xfrm>
            <a:off x="6391656" y="2468880"/>
            <a:ext cx="420624" cy="420624"/>
          </a:xfrm>
          <a:prstGeom prst="ellipse">
            <a:avLst/>
          </a:prstGeom>
          <a:solidFill>
            <a:srgbClr val="22D3EE"/>
          </a:solidFill>
          <a:ln/>
        </p:spPr>
        <p:txBody>
          <a:bodyPr/>
          <a:lstStyle/>
          <a:p>
            <a:endParaRPr lang="en-GB"/>
          </a:p>
        </p:txBody>
      </p:sp>
      <p:sp>
        <p:nvSpPr>
          <p:cNvPr id="21" name="Text 17"/>
          <p:cNvSpPr/>
          <p:nvPr/>
        </p:nvSpPr>
        <p:spPr>
          <a:xfrm>
            <a:off x="6391656" y="2468880"/>
            <a:ext cx="420624" cy="420624"/>
          </a:xfrm>
          <a:prstGeom prst="rect">
            <a:avLst/>
          </a:prstGeom>
          <a:noFill/>
          <a:ln/>
        </p:spPr>
        <p:txBody>
          <a:bodyPr wrap="square" rtlCol="0" anchor="ctr"/>
          <a:lstStyle/>
          <a:p>
            <a:pPr marL="0" indent="0" algn="ctr">
              <a:buNone/>
            </a:pPr>
            <a:r>
              <a:rPr lang="en-US" sz="1500" b="1" dirty="0">
                <a:solidFill>
                  <a:srgbClr val="0A0A18"/>
                </a:solidFill>
                <a:latin typeface="Trebuchet MS" pitchFamily="34" charset="0"/>
                <a:ea typeface="Trebuchet MS" pitchFamily="34" charset="-122"/>
                <a:cs typeface="Trebuchet MS" pitchFamily="34" charset="-120"/>
              </a:rPr>
              <a:t>2</a:t>
            </a:r>
            <a:endParaRPr lang="en-US" sz="1500" dirty="0"/>
          </a:p>
        </p:txBody>
      </p:sp>
      <p:sp>
        <p:nvSpPr>
          <p:cNvPr id="22" name="Text 18"/>
          <p:cNvSpPr/>
          <p:nvPr/>
        </p:nvSpPr>
        <p:spPr>
          <a:xfrm>
            <a:off x="6976872" y="2414016"/>
            <a:ext cx="448056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failures follow commuters</a:t>
            </a:r>
            <a:endParaRPr lang="en-US" sz="1250" dirty="0"/>
          </a:p>
        </p:txBody>
      </p:sp>
      <p:sp>
        <p:nvSpPr>
          <p:cNvPr id="23" name="Text 19"/>
          <p:cNvSpPr/>
          <p:nvPr/>
        </p:nvSpPr>
        <p:spPr>
          <a:xfrm>
            <a:off x="6976872" y="2743200"/>
            <a:ext cx="4480560" cy="694944"/>
          </a:xfrm>
          <a:prstGeom prst="rect">
            <a:avLst/>
          </a:prstGeom>
          <a:noFill/>
          <a:ln/>
        </p:spPr>
        <p:txBody>
          <a:bodyPr wrap="square" rtlCol="0" anchor="ctr"/>
          <a:lstStyle/>
          <a:p>
            <a:pPr marL="0" indent="0">
              <a:lnSpc>
                <a:spcPct val="116000"/>
              </a:lnSpc>
              <a:buNone/>
            </a:pPr>
            <a:r>
              <a:rPr lang="en-US" sz="1000" dirty="0">
                <a:solidFill>
                  <a:srgbClr val="A9B4D0"/>
                </a:solidFill>
                <a:latin typeface="Calibri" pitchFamily="34" charset="0"/>
                <a:ea typeface="Calibri" pitchFamily="34" charset="-122"/>
                <a:cs typeface="Calibri" pitchFamily="34" charset="-120"/>
              </a:rPr>
              <a:t>Empty peaks weekday 10:00 and weekend 16:00; full peaks overnight. A clear supply/demand rhythm.</a:t>
            </a:r>
            <a:endParaRPr lang="en-US" sz="1000" dirty="0"/>
          </a:p>
        </p:txBody>
      </p:sp>
      <p:sp>
        <p:nvSpPr>
          <p:cNvPr id="24" name="Shape 20"/>
          <p:cNvSpPr/>
          <p:nvPr/>
        </p:nvSpPr>
        <p:spPr>
          <a:xfrm>
            <a:off x="566928" y="3657600"/>
            <a:ext cx="5440680" cy="1234440"/>
          </a:xfrm>
          <a:prstGeom prst="roundRect">
            <a:avLst>
              <a:gd name="adj" fmla="val 4074"/>
            </a:avLst>
          </a:prstGeom>
          <a:solidFill>
            <a:srgbClr val="0E1030">
              <a:alpha val="82000"/>
            </a:srgbClr>
          </a:solidFill>
          <a:ln w="22225">
            <a:solidFill>
              <a:srgbClr val="E930D8"/>
            </a:solidFill>
            <a:prstDash val="solid"/>
          </a:ln>
        </p:spPr>
        <p:txBody>
          <a:bodyPr/>
          <a:lstStyle/>
          <a:p>
            <a:endParaRPr lang="en-GB"/>
          </a:p>
        </p:txBody>
      </p:sp>
      <p:sp>
        <p:nvSpPr>
          <p:cNvPr id="25" name="Shape 21"/>
          <p:cNvSpPr/>
          <p:nvPr/>
        </p:nvSpPr>
        <p:spPr>
          <a:xfrm>
            <a:off x="768096" y="3840480"/>
            <a:ext cx="420624" cy="420624"/>
          </a:xfrm>
          <a:prstGeom prst="ellipse">
            <a:avLst/>
          </a:prstGeom>
          <a:solidFill>
            <a:srgbClr val="E930D8"/>
          </a:solidFill>
          <a:ln/>
        </p:spPr>
        <p:txBody>
          <a:bodyPr/>
          <a:lstStyle/>
          <a:p>
            <a:endParaRPr lang="en-GB"/>
          </a:p>
        </p:txBody>
      </p:sp>
      <p:sp>
        <p:nvSpPr>
          <p:cNvPr id="26" name="Text 22"/>
          <p:cNvSpPr/>
          <p:nvPr/>
        </p:nvSpPr>
        <p:spPr>
          <a:xfrm>
            <a:off x="768096" y="3840480"/>
            <a:ext cx="420624" cy="420624"/>
          </a:xfrm>
          <a:prstGeom prst="rect">
            <a:avLst/>
          </a:prstGeom>
          <a:noFill/>
          <a:ln/>
        </p:spPr>
        <p:txBody>
          <a:bodyPr wrap="square" rtlCol="0" anchor="ctr"/>
          <a:lstStyle/>
          <a:p>
            <a:pPr marL="0" indent="0" algn="ctr">
              <a:buNone/>
            </a:pPr>
            <a:r>
              <a:rPr lang="en-US" sz="1500" b="1" dirty="0">
                <a:solidFill>
                  <a:srgbClr val="0A0A18"/>
                </a:solidFill>
                <a:latin typeface="Trebuchet MS" pitchFamily="34" charset="0"/>
                <a:ea typeface="Trebuchet MS" pitchFamily="34" charset="-122"/>
                <a:cs typeface="Trebuchet MS" pitchFamily="34" charset="-120"/>
              </a:rPr>
              <a:t>3</a:t>
            </a:r>
            <a:endParaRPr lang="en-US" sz="1500" dirty="0"/>
          </a:p>
        </p:txBody>
      </p:sp>
      <p:sp>
        <p:nvSpPr>
          <p:cNvPr id="27" name="Text 23"/>
          <p:cNvSpPr/>
          <p:nvPr/>
        </p:nvSpPr>
        <p:spPr>
          <a:xfrm>
            <a:off x="1353312" y="3785616"/>
            <a:ext cx="448056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Geography is the best predictor</a:t>
            </a:r>
            <a:endParaRPr lang="en-US" sz="1250" dirty="0"/>
          </a:p>
        </p:txBody>
      </p:sp>
      <p:sp>
        <p:nvSpPr>
          <p:cNvPr id="28" name="Text 24"/>
          <p:cNvSpPr/>
          <p:nvPr/>
        </p:nvSpPr>
        <p:spPr>
          <a:xfrm>
            <a:off x="1353312" y="4114800"/>
            <a:ext cx="4480560" cy="694944"/>
          </a:xfrm>
          <a:prstGeom prst="rect">
            <a:avLst/>
          </a:prstGeom>
          <a:noFill/>
          <a:ln/>
        </p:spPr>
        <p:txBody>
          <a:bodyPr wrap="square" rtlCol="0" anchor="ctr"/>
          <a:lstStyle/>
          <a:p>
            <a:pPr marL="0" indent="0">
              <a:lnSpc>
                <a:spcPct val="116000"/>
              </a:lnSpc>
              <a:buNone/>
            </a:pPr>
            <a:r>
              <a:rPr lang="en-US" sz="1000" dirty="0">
                <a:solidFill>
                  <a:srgbClr val="A9B4D0"/>
                </a:solidFill>
                <a:latin typeface="Calibri" pitchFamily="34" charset="0"/>
                <a:ea typeface="Calibri" pitchFamily="34" charset="-122"/>
                <a:cs typeface="Calibri" pitchFamily="34" charset="-120"/>
              </a:rPr>
              <a:t>Elevation beats latitude by far (0.39 vs 0.06): uphill runs empty, riverside runs full.</a:t>
            </a:r>
            <a:endParaRPr lang="en-US" sz="1000" dirty="0"/>
          </a:p>
        </p:txBody>
      </p:sp>
      <p:sp>
        <p:nvSpPr>
          <p:cNvPr id="29" name="Shape 25"/>
          <p:cNvSpPr/>
          <p:nvPr/>
        </p:nvSpPr>
        <p:spPr>
          <a:xfrm>
            <a:off x="6190488" y="3657600"/>
            <a:ext cx="5440680" cy="1234440"/>
          </a:xfrm>
          <a:prstGeom prst="roundRect">
            <a:avLst>
              <a:gd name="adj" fmla="val 4074"/>
            </a:avLst>
          </a:prstGeom>
          <a:solidFill>
            <a:srgbClr val="0E1030">
              <a:alpha val="82000"/>
            </a:srgbClr>
          </a:solidFill>
          <a:ln w="22225">
            <a:solidFill>
              <a:srgbClr val="E930D8"/>
            </a:solidFill>
            <a:prstDash val="solid"/>
          </a:ln>
        </p:spPr>
        <p:txBody>
          <a:bodyPr/>
          <a:lstStyle/>
          <a:p>
            <a:endParaRPr lang="en-GB"/>
          </a:p>
        </p:txBody>
      </p:sp>
      <p:sp>
        <p:nvSpPr>
          <p:cNvPr id="30" name="Shape 26"/>
          <p:cNvSpPr/>
          <p:nvPr/>
        </p:nvSpPr>
        <p:spPr>
          <a:xfrm>
            <a:off x="6391656" y="3840480"/>
            <a:ext cx="420624" cy="420624"/>
          </a:xfrm>
          <a:prstGeom prst="ellipse">
            <a:avLst/>
          </a:prstGeom>
          <a:solidFill>
            <a:srgbClr val="E930D8"/>
          </a:solidFill>
          <a:ln/>
        </p:spPr>
        <p:txBody>
          <a:bodyPr/>
          <a:lstStyle/>
          <a:p>
            <a:endParaRPr lang="en-GB"/>
          </a:p>
        </p:txBody>
      </p:sp>
      <p:sp>
        <p:nvSpPr>
          <p:cNvPr id="31" name="Text 27"/>
          <p:cNvSpPr/>
          <p:nvPr/>
        </p:nvSpPr>
        <p:spPr>
          <a:xfrm>
            <a:off x="6391656" y="3840480"/>
            <a:ext cx="420624" cy="420624"/>
          </a:xfrm>
          <a:prstGeom prst="rect">
            <a:avLst/>
          </a:prstGeom>
          <a:noFill/>
          <a:ln/>
        </p:spPr>
        <p:txBody>
          <a:bodyPr wrap="square" rtlCol="0" anchor="ctr"/>
          <a:lstStyle/>
          <a:p>
            <a:pPr marL="0" indent="0" algn="ctr">
              <a:buNone/>
            </a:pPr>
            <a:r>
              <a:rPr lang="en-US" sz="1500" b="1" dirty="0">
                <a:solidFill>
                  <a:srgbClr val="0A0A18"/>
                </a:solidFill>
                <a:latin typeface="Trebuchet MS" pitchFamily="34" charset="0"/>
                <a:ea typeface="Trebuchet MS" pitchFamily="34" charset="-122"/>
                <a:cs typeface="Trebuchet MS" pitchFamily="34" charset="-120"/>
              </a:rPr>
              <a:t>4</a:t>
            </a:r>
            <a:endParaRPr lang="en-US" sz="1500" dirty="0"/>
          </a:p>
        </p:txBody>
      </p:sp>
      <p:sp>
        <p:nvSpPr>
          <p:cNvPr id="32" name="Text 28"/>
          <p:cNvSpPr/>
          <p:nvPr/>
        </p:nvSpPr>
        <p:spPr>
          <a:xfrm>
            <a:off x="6976872" y="3785616"/>
            <a:ext cx="448056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Many fixes are cheap</a:t>
            </a:r>
            <a:endParaRPr lang="en-US" sz="1250" dirty="0"/>
          </a:p>
        </p:txBody>
      </p:sp>
      <p:sp>
        <p:nvSpPr>
          <p:cNvPr id="33" name="Text 29"/>
          <p:cNvSpPr/>
          <p:nvPr/>
        </p:nvSpPr>
        <p:spPr>
          <a:xfrm>
            <a:off x="6976872" y="4114800"/>
            <a:ext cx="4480560" cy="694944"/>
          </a:xfrm>
          <a:prstGeom prst="rect">
            <a:avLst/>
          </a:prstGeom>
          <a:noFill/>
          <a:ln/>
        </p:spPr>
        <p:txBody>
          <a:bodyPr wrap="square" rtlCol="0" anchor="ctr"/>
          <a:lstStyle/>
          <a:p>
            <a:pPr marL="0" indent="0">
              <a:lnSpc>
                <a:spcPct val="116000"/>
              </a:lnSpc>
              <a:buNone/>
            </a:pPr>
            <a:r>
              <a:rPr lang="en-US" sz="1000" dirty="0">
                <a:solidFill>
                  <a:srgbClr val="A9B4D0"/>
                </a:solidFill>
                <a:latin typeface="Calibri" pitchFamily="34" charset="0"/>
                <a:ea typeface="Calibri" pitchFamily="34" charset="-122"/>
                <a:cs typeface="Calibri" pitchFamily="34" charset="-120"/>
              </a:rPr>
              <a:t>Several worst empty/full pairs are a short van climb apart, so loops beat fleet expansion.</a:t>
            </a:r>
            <a:endParaRPr lang="en-US" sz="1000" dirty="0"/>
          </a:p>
        </p:txBody>
      </p:sp>
      <p:sp>
        <p:nvSpPr>
          <p:cNvPr id="34" name="Shape 30"/>
          <p:cNvSpPr/>
          <p:nvPr/>
        </p:nvSpPr>
        <p:spPr>
          <a:xfrm>
            <a:off x="566928" y="5029200"/>
            <a:ext cx="5440680" cy="1234440"/>
          </a:xfrm>
          <a:prstGeom prst="roundRect">
            <a:avLst>
              <a:gd name="adj" fmla="val 4074"/>
            </a:avLst>
          </a:prstGeom>
          <a:solidFill>
            <a:srgbClr val="0E1030">
              <a:alpha val="82000"/>
            </a:srgbClr>
          </a:solidFill>
          <a:ln w="22225">
            <a:solidFill>
              <a:srgbClr val="7B2FF7"/>
            </a:solidFill>
            <a:prstDash val="solid"/>
          </a:ln>
        </p:spPr>
        <p:txBody>
          <a:bodyPr/>
          <a:lstStyle/>
          <a:p>
            <a:endParaRPr lang="en-GB"/>
          </a:p>
        </p:txBody>
      </p:sp>
      <p:sp>
        <p:nvSpPr>
          <p:cNvPr id="35" name="Shape 31"/>
          <p:cNvSpPr/>
          <p:nvPr/>
        </p:nvSpPr>
        <p:spPr>
          <a:xfrm>
            <a:off x="768096" y="5212080"/>
            <a:ext cx="420624" cy="420624"/>
          </a:xfrm>
          <a:prstGeom prst="ellipse">
            <a:avLst/>
          </a:prstGeom>
          <a:solidFill>
            <a:srgbClr val="7B2FF7"/>
          </a:solidFill>
          <a:ln/>
        </p:spPr>
        <p:txBody>
          <a:bodyPr/>
          <a:lstStyle/>
          <a:p>
            <a:endParaRPr lang="en-GB"/>
          </a:p>
        </p:txBody>
      </p:sp>
      <p:sp>
        <p:nvSpPr>
          <p:cNvPr id="36" name="Text 32"/>
          <p:cNvSpPr/>
          <p:nvPr/>
        </p:nvSpPr>
        <p:spPr>
          <a:xfrm>
            <a:off x="768096" y="5212080"/>
            <a:ext cx="420624" cy="420624"/>
          </a:xfrm>
          <a:prstGeom prst="rect">
            <a:avLst/>
          </a:prstGeom>
          <a:noFill/>
          <a:ln/>
        </p:spPr>
        <p:txBody>
          <a:bodyPr wrap="square" rtlCol="0" anchor="ctr"/>
          <a:lstStyle/>
          <a:p>
            <a:pPr marL="0" indent="0" algn="ctr">
              <a:buNone/>
            </a:pPr>
            <a:r>
              <a:rPr lang="en-US" sz="1500" b="1" dirty="0">
                <a:solidFill>
                  <a:srgbClr val="0A0A18"/>
                </a:solidFill>
                <a:latin typeface="Trebuchet MS" pitchFamily="34" charset="0"/>
                <a:ea typeface="Trebuchet MS" pitchFamily="34" charset="-122"/>
                <a:cs typeface="Trebuchet MS" pitchFamily="34" charset="-120"/>
              </a:rPr>
              <a:t>5</a:t>
            </a:r>
            <a:endParaRPr lang="en-US" sz="1500" dirty="0"/>
          </a:p>
        </p:txBody>
      </p:sp>
      <p:sp>
        <p:nvSpPr>
          <p:cNvPr id="37" name="Text 33"/>
          <p:cNvSpPr/>
          <p:nvPr/>
        </p:nvSpPr>
        <p:spPr>
          <a:xfrm>
            <a:off x="1353312" y="5157216"/>
            <a:ext cx="448056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Growth outpaced the fix</a:t>
            </a:r>
            <a:endParaRPr lang="en-US" sz="1250" dirty="0"/>
          </a:p>
        </p:txBody>
      </p:sp>
      <p:sp>
        <p:nvSpPr>
          <p:cNvPr id="38" name="Text 34"/>
          <p:cNvSpPr/>
          <p:nvPr/>
        </p:nvSpPr>
        <p:spPr>
          <a:xfrm>
            <a:off x="1353312" y="5486400"/>
            <a:ext cx="4480560" cy="694944"/>
          </a:xfrm>
          <a:prstGeom prst="rect">
            <a:avLst/>
          </a:prstGeom>
          <a:noFill/>
          <a:ln/>
        </p:spPr>
        <p:txBody>
          <a:bodyPr wrap="square" rtlCol="0" anchor="ctr"/>
          <a:lstStyle/>
          <a:p>
            <a:pPr marL="0" indent="0">
              <a:lnSpc>
                <a:spcPct val="116000"/>
              </a:lnSpc>
              <a:buNone/>
            </a:pPr>
            <a:r>
              <a:rPr lang="en-US" sz="1000" dirty="0">
                <a:solidFill>
                  <a:srgbClr val="A9B4D0"/>
                </a:solidFill>
                <a:latin typeface="Calibri" pitchFamily="34" charset="0"/>
                <a:ea typeface="Calibri" pitchFamily="34" charset="-122"/>
                <a:cs typeface="Calibri" pitchFamily="34" charset="-120"/>
              </a:rPr>
              <a:t>Stations went 85→147 and capacity grew faster still, yet 479, 407, 452 and 309 remain problem stations.</a:t>
            </a:r>
            <a:endParaRPr lang="en-US" sz="1000" dirty="0"/>
          </a:p>
        </p:txBody>
      </p:sp>
      <p:sp>
        <p:nvSpPr>
          <p:cNvPr id="39" name="Shape 35"/>
          <p:cNvSpPr/>
          <p:nvPr/>
        </p:nvSpPr>
        <p:spPr>
          <a:xfrm>
            <a:off x="6190488" y="5029200"/>
            <a:ext cx="5440680" cy="1234440"/>
          </a:xfrm>
          <a:prstGeom prst="roundRect">
            <a:avLst>
              <a:gd name="adj" fmla="val 4074"/>
            </a:avLst>
          </a:prstGeom>
          <a:solidFill>
            <a:srgbClr val="0E1030">
              <a:alpha val="82000"/>
            </a:srgbClr>
          </a:solidFill>
          <a:ln w="22225">
            <a:solidFill>
              <a:srgbClr val="7B2FF7"/>
            </a:solidFill>
            <a:prstDash val="solid"/>
          </a:ln>
        </p:spPr>
        <p:txBody>
          <a:bodyPr/>
          <a:lstStyle/>
          <a:p>
            <a:endParaRPr lang="en-GB"/>
          </a:p>
        </p:txBody>
      </p:sp>
      <p:sp>
        <p:nvSpPr>
          <p:cNvPr id="40" name="Shape 36"/>
          <p:cNvSpPr/>
          <p:nvPr/>
        </p:nvSpPr>
        <p:spPr>
          <a:xfrm>
            <a:off x="6391656" y="5212080"/>
            <a:ext cx="420624" cy="420624"/>
          </a:xfrm>
          <a:prstGeom prst="ellipse">
            <a:avLst/>
          </a:prstGeom>
          <a:solidFill>
            <a:srgbClr val="7B2FF7"/>
          </a:solidFill>
          <a:ln/>
        </p:spPr>
        <p:txBody>
          <a:bodyPr/>
          <a:lstStyle/>
          <a:p>
            <a:endParaRPr lang="en-GB"/>
          </a:p>
        </p:txBody>
      </p:sp>
      <p:sp>
        <p:nvSpPr>
          <p:cNvPr id="41" name="Text 37"/>
          <p:cNvSpPr/>
          <p:nvPr/>
        </p:nvSpPr>
        <p:spPr>
          <a:xfrm>
            <a:off x="6391656" y="5212080"/>
            <a:ext cx="420624" cy="420624"/>
          </a:xfrm>
          <a:prstGeom prst="rect">
            <a:avLst/>
          </a:prstGeom>
          <a:noFill/>
          <a:ln/>
        </p:spPr>
        <p:txBody>
          <a:bodyPr wrap="square" rtlCol="0" anchor="ctr"/>
          <a:lstStyle/>
          <a:p>
            <a:pPr marL="0" indent="0" algn="ctr">
              <a:buNone/>
            </a:pPr>
            <a:r>
              <a:rPr lang="en-US" sz="1500" b="1" dirty="0">
                <a:solidFill>
                  <a:srgbClr val="0A0A18"/>
                </a:solidFill>
                <a:latin typeface="Trebuchet MS" pitchFamily="34" charset="0"/>
                <a:ea typeface="Trebuchet MS" pitchFamily="34" charset="-122"/>
                <a:cs typeface="Trebuchet MS" pitchFamily="34" charset="-120"/>
              </a:rPr>
              <a:t>6</a:t>
            </a:r>
            <a:endParaRPr lang="en-US" sz="1500" dirty="0"/>
          </a:p>
        </p:txBody>
      </p:sp>
      <p:sp>
        <p:nvSpPr>
          <p:cNvPr id="42" name="Text 38"/>
          <p:cNvSpPr/>
          <p:nvPr/>
        </p:nvSpPr>
        <p:spPr>
          <a:xfrm>
            <a:off x="6976872" y="5157216"/>
            <a:ext cx="4480560" cy="329184"/>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priority list is ready</a:t>
            </a:r>
            <a:endParaRPr lang="en-US" sz="1250" dirty="0"/>
          </a:p>
        </p:txBody>
      </p:sp>
      <p:sp>
        <p:nvSpPr>
          <p:cNvPr id="43" name="Text 39"/>
          <p:cNvSpPr/>
          <p:nvPr/>
        </p:nvSpPr>
        <p:spPr>
          <a:xfrm>
            <a:off x="6976872" y="5486400"/>
            <a:ext cx="4480560" cy="694944"/>
          </a:xfrm>
          <a:prstGeom prst="rect">
            <a:avLst/>
          </a:prstGeom>
          <a:noFill/>
          <a:ln/>
        </p:spPr>
        <p:txBody>
          <a:bodyPr wrap="square" rtlCol="0" anchor="ctr"/>
          <a:lstStyle/>
          <a:p>
            <a:pPr marL="0" indent="0">
              <a:lnSpc>
                <a:spcPct val="116000"/>
              </a:lnSpc>
              <a:buNone/>
            </a:pPr>
            <a:r>
              <a:rPr lang="en-US" sz="1000" dirty="0">
                <a:solidFill>
                  <a:srgbClr val="A9B4D0"/>
                </a:solidFill>
                <a:latin typeface="Calibri" pitchFamily="34" charset="0"/>
                <a:ea typeface="Calibri" pitchFamily="34" charset="-122"/>
                <a:cs typeface="Calibri" pitchFamily="34" charset="-120"/>
              </a:rPr>
              <a:t>The demand-weighted station × hour ranking gives the rebalancing team a daily to-do list.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assets/bg_hero.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66928" y="3291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GIRA</a:t>
            </a:r>
            <a:endParaRPr lang="en-US" sz="1300" dirty="0"/>
          </a:p>
        </p:txBody>
      </p:sp>
      <p:sp>
        <p:nvSpPr>
          <p:cNvPr id="4" name="Text 1"/>
          <p:cNvSpPr/>
          <p:nvPr/>
        </p:nvSpPr>
        <p:spPr>
          <a:xfrm>
            <a:off x="566928" y="557784"/>
            <a:ext cx="2011680" cy="237744"/>
          </a:xfrm>
          <a:prstGeom prst="rect">
            <a:avLst/>
          </a:prstGeom>
          <a:noFill/>
          <a:ln/>
        </p:spPr>
        <p:txBody>
          <a:bodyPr wrap="square" rtlCol="0" anchor="ctr"/>
          <a:lstStyle/>
          <a:p>
            <a:pPr marL="0" indent="0">
              <a:buNone/>
            </a:pPr>
            <a:r>
              <a:rPr lang="en-US" sz="1300" b="1" kern="0" spc="100" dirty="0">
                <a:solidFill>
                  <a:srgbClr val="FFFFFF"/>
                </a:solidFill>
                <a:latin typeface="Trebuchet MS" pitchFamily="34" charset="0"/>
                <a:ea typeface="Trebuchet MS" pitchFamily="34" charset="-122"/>
                <a:cs typeface="Trebuchet MS" pitchFamily="34" charset="-120"/>
              </a:rPr>
              <a:t>ANALYTICS.</a:t>
            </a:r>
            <a:endParaRPr lang="en-US" sz="1300" dirty="0"/>
          </a:p>
        </p:txBody>
      </p:sp>
      <p:sp>
        <p:nvSpPr>
          <p:cNvPr id="5" name="Text 2"/>
          <p:cNvSpPr/>
          <p:nvPr/>
        </p:nvSpPr>
        <p:spPr>
          <a:xfrm>
            <a:off x="288036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Overview</a:t>
            </a:r>
            <a:endParaRPr lang="en-US" sz="1350" dirty="0"/>
          </a:p>
        </p:txBody>
      </p:sp>
      <p:sp>
        <p:nvSpPr>
          <p:cNvPr id="6" name="Text 3"/>
          <p:cNvSpPr/>
          <p:nvPr/>
        </p:nvSpPr>
        <p:spPr>
          <a:xfrm>
            <a:off x="466344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Cleaning</a:t>
            </a:r>
            <a:endParaRPr lang="en-US" sz="1350" dirty="0"/>
          </a:p>
        </p:txBody>
      </p:sp>
      <p:sp>
        <p:nvSpPr>
          <p:cNvPr id="7" name="Text 4"/>
          <p:cNvSpPr/>
          <p:nvPr/>
        </p:nvSpPr>
        <p:spPr>
          <a:xfrm>
            <a:off x="6446520" y="411480"/>
            <a:ext cx="1691640" cy="320040"/>
          </a:xfrm>
          <a:prstGeom prst="rect">
            <a:avLst/>
          </a:prstGeom>
          <a:noFill/>
          <a:ln/>
        </p:spPr>
        <p:txBody>
          <a:bodyPr wrap="square" rtlCol="0" anchor="ctr"/>
          <a:lstStyle/>
          <a:p>
            <a:pPr marL="0" indent="0" algn="ctr">
              <a:buNone/>
            </a:pPr>
            <a:r>
              <a:rPr lang="en-US" sz="1350" dirty="0">
                <a:solidFill>
                  <a:srgbClr val="A9B4D0"/>
                </a:solidFill>
                <a:latin typeface="Calibri" pitchFamily="34" charset="0"/>
                <a:ea typeface="Calibri" pitchFamily="34" charset="-122"/>
                <a:cs typeface="Calibri" pitchFamily="34" charset="-120"/>
              </a:rPr>
              <a:t>Analysis</a:t>
            </a:r>
            <a:endParaRPr lang="en-US" sz="1350" dirty="0"/>
          </a:p>
        </p:txBody>
      </p:sp>
      <p:sp>
        <p:nvSpPr>
          <p:cNvPr id="8" name="Text 5"/>
          <p:cNvSpPr/>
          <p:nvPr/>
        </p:nvSpPr>
        <p:spPr>
          <a:xfrm>
            <a:off x="8229600" y="411480"/>
            <a:ext cx="1691640" cy="32004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Dashboard</a:t>
            </a:r>
            <a:endParaRPr lang="en-US" sz="1350" dirty="0"/>
          </a:p>
        </p:txBody>
      </p:sp>
      <p:sp>
        <p:nvSpPr>
          <p:cNvPr id="9" name="Shape 6"/>
          <p:cNvSpPr/>
          <p:nvPr/>
        </p:nvSpPr>
        <p:spPr>
          <a:xfrm>
            <a:off x="10314432" y="356616"/>
            <a:ext cx="1298448" cy="420624"/>
          </a:xfrm>
          <a:prstGeom prst="roundRect">
            <a:avLst>
              <a:gd name="adj" fmla="val 19565"/>
            </a:avLst>
          </a:prstGeom>
          <a:solidFill>
            <a:srgbClr val="7B2FF7"/>
          </a:solidFill>
          <a:ln/>
        </p:spPr>
        <p:txBody>
          <a:bodyPr/>
          <a:lstStyle/>
          <a:p>
            <a:endParaRPr lang="en-GB"/>
          </a:p>
        </p:txBody>
      </p:sp>
      <p:sp>
        <p:nvSpPr>
          <p:cNvPr id="10" name="Text 7"/>
          <p:cNvSpPr/>
          <p:nvPr/>
        </p:nvSpPr>
        <p:spPr>
          <a:xfrm>
            <a:off x="10314432" y="356616"/>
            <a:ext cx="129844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Page 19</a:t>
            </a:r>
            <a:endParaRPr lang="en-US" sz="1200" dirty="0"/>
          </a:p>
        </p:txBody>
      </p:sp>
      <p:pic>
        <p:nvPicPr>
          <p:cNvPr id="11" name="Image 1" descr="assets/icon_bike_2A3560.png"/>
          <p:cNvPicPr>
            <a:picLocks noChangeAspect="1"/>
          </p:cNvPicPr>
          <p:nvPr/>
        </p:nvPicPr>
        <p:blipFill>
          <a:blip r:embed="rId4"/>
          <a:stretch>
            <a:fillRect/>
          </a:stretch>
        </p:blipFill>
        <p:spPr>
          <a:xfrm>
            <a:off x="914400" y="2313432"/>
            <a:ext cx="1554480" cy="1554480"/>
          </a:xfrm>
          <a:prstGeom prst="rect">
            <a:avLst/>
          </a:prstGeom>
        </p:spPr>
      </p:pic>
      <p:pic>
        <p:nvPicPr>
          <p:cNvPr id="12" name="Image 2" descr="assets/icon_bike_2A3560.png"/>
          <p:cNvPicPr>
            <a:picLocks noChangeAspect="1"/>
          </p:cNvPicPr>
          <p:nvPr/>
        </p:nvPicPr>
        <p:blipFill>
          <a:blip r:embed="rId4"/>
          <a:stretch>
            <a:fillRect/>
          </a:stretch>
        </p:blipFill>
        <p:spPr>
          <a:xfrm>
            <a:off x="9631680" y="2322576"/>
            <a:ext cx="1554480" cy="1554480"/>
          </a:xfrm>
          <a:prstGeom prst="rect">
            <a:avLst/>
          </a:prstGeom>
        </p:spPr>
      </p:pic>
      <p:sp>
        <p:nvSpPr>
          <p:cNvPr id="13" name="Text 8"/>
          <p:cNvSpPr/>
          <p:nvPr/>
        </p:nvSpPr>
        <p:spPr>
          <a:xfrm>
            <a:off x="566928" y="1965960"/>
            <a:ext cx="11064240" cy="1234440"/>
          </a:xfrm>
          <a:prstGeom prst="rect">
            <a:avLst/>
          </a:prstGeom>
          <a:noFill/>
          <a:ln/>
        </p:spPr>
        <p:txBody>
          <a:bodyPr wrap="square" rtlCol="0" anchor="ctr"/>
          <a:lstStyle/>
          <a:p>
            <a:pPr marL="0" indent="0" algn="ctr">
              <a:buNone/>
            </a:pPr>
            <a:r>
              <a:rPr lang="en-US" sz="6000" b="1" dirty="0">
                <a:solidFill>
                  <a:srgbClr val="FFFFFF"/>
                </a:solidFill>
                <a:latin typeface="Trebuchet MS" pitchFamily="34" charset="0"/>
                <a:ea typeface="Trebuchet MS" pitchFamily="34" charset="-122"/>
                <a:cs typeface="Trebuchet MS" pitchFamily="34" charset="-120"/>
              </a:rPr>
              <a:t>Thank You</a:t>
            </a:r>
            <a:endParaRPr lang="en-US" sz="6000" dirty="0"/>
          </a:p>
        </p:txBody>
      </p:sp>
      <p:sp>
        <p:nvSpPr>
          <p:cNvPr id="14" name="Text 9"/>
          <p:cNvSpPr/>
          <p:nvPr/>
        </p:nvSpPr>
        <p:spPr>
          <a:xfrm>
            <a:off x="1005840" y="3310128"/>
            <a:ext cx="10149840" cy="1051560"/>
          </a:xfrm>
          <a:prstGeom prst="rect">
            <a:avLst/>
          </a:prstGeom>
          <a:noFill/>
          <a:ln/>
        </p:spPr>
        <p:txBody>
          <a:bodyPr wrap="square" rtlCol="0" anchor="ctr"/>
          <a:lstStyle/>
          <a:p>
            <a:pPr marL="0" indent="0" algn="ctr">
              <a:lnSpc>
                <a:spcPct val="128000"/>
              </a:lnSpc>
              <a:buNone/>
            </a:pPr>
            <a:r>
              <a:rPr lang="en-US" sz="1700" i="1" dirty="0">
                <a:solidFill>
                  <a:srgbClr val="DCE6FF"/>
                </a:solidFill>
                <a:latin typeface="Calibri" pitchFamily="34" charset="0"/>
                <a:ea typeface="Calibri" pitchFamily="34" charset="-122"/>
                <a:cs typeface="Calibri" pitchFamily="34" charset="-120"/>
              </a:rPr>
              <a:t>“The network doesn't fail on average. It fails at specific stations,</a:t>
            </a:r>
            <a:endParaRPr lang="en-US" sz="1700" dirty="0"/>
          </a:p>
          <a:p>
            <a:pPr marL="0" indent="0" algn="ctr">
              <a:lnSpc>
                <a:spcPct val="128000"/>
              </a:lnSpc>
              <a:buNone/>
            </a:pPr>
            <a:r>
              <a:rPr lang="en-US" sz="1700" i="1" dirty="0">
                <a:solidFill>
                  <a:srgbClr val="DCE6FF"/>
                </a:solidFill>
                <a:latin typeface="Calibri" pitchFamily="34" charset="0"/>
                <a:ea typeface="Calibri" pitchFamily="34" charset="-122"/>
                <a:cs typeface="Calibri" pitchFamily="34" charset="-120"/>
              </a:rPr>
              <a:t>at specific hours, downhill by the river, and now we know which ones.”</a:t>
            </a:r>
            <a:endParaRPr lang="en-US" sz="1700" dirty="0"/>
          </a:p>
        </p:txBody>
      </p:sp>
      <p:sp>
        <p:nvSpPr>
          <p:cNvPr id="15" name="Shape 10"/>
          <p:cNvSpPr/>
          <p:nvPr/>
        </p:nvSpPr>
        <p:spPr>
          <a:xfrm>
            <a:off x="566928" y="5029200"/>
            <a:ext cx="11064240" cy="841248"/>
          </a:xfrm>
          <a:prstGeom prst="roundRect">
            <a:avLst>
              <a:gd name="adj" fmla="val 8696"/>
            </a:avLst>
          </a:prstGeom>
          <a:solidFill>
            <a:srgbClr val="0E1030">
              <a:alpha val="75000"/>
            </a:srgbClr>
          </a:solidFill>
          <a:ln w="22225">
            <a:solidFill>
              <a:srgbClr val="22D3EE"/>
            </a:solidFill>
            <a:prstDash val="solid"/>
          </a:ln>
        </p:spPr>
        <p:txBody>
          <a:bodyPr/>
          <a:lstStyle/>
          <a:p>
            <a:endParaRPr lang="en-GB"/>
          </a:p>
        </p:txBody>
      </p:sp>
      <p:sp>
        <p:nvSpPr>
          <p:cNvPr id="16" name="Text 11"/>
          <p:cNvSpPr/>
          <p:nvPr/>
        </p:nvSpPr>
        <p:spPr>
          <a:xfrm>
            <a:off x="914400" y="5029200"/>
            <a:ext cx="3383280" cy="841248"/>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Python · pandas · cleaning and analysis</a:t>
            </a:r>
            <a:endParaRPr lang="en-US" sz="1150" dirty="0"/>
          </a:p>
        </p:txBody>
      </p:sp>
      <p:sp>
        <p:nvSpPr>
          <p:cNvPr id="17" name="Text 12"/>
          <p:cNvSpPr/>
          <p:nvPr/>
        </p:nvSpPr>
        <p:spPr>
          <a:xfrm>
            <a:off x="4754880" y="5029200"/>
            <a:ext cx="3108960" cy="841248"/>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Power BI · live dashboard</a:t>
            </a:r>
            <a:endParaRPr lang="en-US" sz="1150" dirty="0"/>
          </a:p>
        </p:txBody>
      </p:sp>
      <p:sp>
        <p:nvSpPr>
          <p:cNvPr id="18" name="Text 13"/>
          <p:cNvSpPr/>
          <p:nvPr/>
        </p:nvSpPr>
        <p:spPr>
          <a:xfrm>
            <a:off x="8138160" y="5029200"/>
            <a:ext cx="3200400" cy="841248"/>
          </a:xfrm>
          <a:prstGeom prst="rect">
            <a:avLst/>
          </a:prstGeom>
          <a:noFill/>
          <a:ln/>
        </p:spPr>
        <p:txBody>
          <a:bodyPr wrap="square" rtlCol="0" anchor="ctr"/>
          <a:lstStyle/>
          <a:p>
            <a:pPr marL="0" indent="0" algn="r">
              <a:buNone/>
            </a:pPr>
            <a:r>
              <a:rPr lang="en-US" sz="1150" b="1" dirty="0">
                <a:solidFill>
                  <a:srgbClr val="FFFFFF"/>
                </a:solidFill>
                <a:latin typeface="Calibri" pitchFamily="34" charset="0"/>
                <a:ea typeface="Calibri" pitchFamily="34" charset="-122"/>
                <a:cs typeface="Calibri" pitchFamily="34" charset="-120"/>
              </a:rPr>
              <a:t>4,090,179 clean rows · 149 stations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3571</Words>
  <Application>Microsoft Office PowerPoint</Application>
  <PresentationFormat>Widescreen</PresentationFormat>
  <Paragraphs>343</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Rita Lima, João Custódio, Cláudio Pitra, Erick Dos Santos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GIRA Network — Análise de Disponibilidade das Estações 2020–2023</dc:title>
  <dc:subject>Projeto final de Análise de Dados — GIRA, Bicicletas de Lisboa</dc:subject>
  <dc:creator>Rita Lima</dc:creator>
  <cp:lastModifiedBy>Student DA (012026) | Rita Lima</cp:lastModifiedBy>
  <cp:revision>4</cp:revision>
  <dcterms:created xsi:type="dcterms:W3CDTF">2026-08-02T13:49:59Z</dcterms:created>
  <dcterms:modified xsi:type="dcterms:W3CDTF">2026-08-04T01:35:52Z</dcterms:modified>
</cp:coreProperties>
</file>